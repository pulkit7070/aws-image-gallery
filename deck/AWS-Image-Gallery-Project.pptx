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title. This project takes the simplest idea on the list and uses it to show what cloud computing is actually about: keeping the application separate from the data. Two AWS services, EC2 and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audience the shape of the talk in one breath, then move on. Do not read all six lines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problem before the solution. Ask where the photos go if you build this on a normal college server. Answer: onto that one machine's disk. Then walk the four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scope plainly so nobody expects features that are not there. Then point at the three numbers: two services, zero files on the instance disk, eleven nines of durability, which means S3 is built never to lose an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EC2 is a rented computer. S3 is not a disk, it is a store of objects addressed by key. IAM is the part most student projects skip: it lets the server use the bucket with no password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the most time here. Trace the arrows left to right, then make the three points underneath: the instance holds nothing, S3 holds the truth, no keys live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steps in order. The point to land on is step four, the file streams straight to S3 and never touches the EC2 disk. Step six explains presigned URLs.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a question about why the bucket is not public, so answer it here. Left column is the shortcut most tutorials take, right column is what this project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code line by line. Four boto3 calls do the whole job: upload, list, sign a link, delete. Point out there is no password anywhere in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application if you can, otherwise use this screenshot. Upload an image, then open the S3 console and show the same object appearing under the uploads prefix.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a short repeatable sequence and all five steps are in the report. Mention the Free Tier and that you terminate the instance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you tested rather than claiming it works. Four normal cases and three failure cases, including a byte-for-byte check that the image returned is identical to the one uploaded.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limits makes the viva easier. No login, so anyone with the address can upload. Then give the four 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single idea: EC2 is disposable, S3 is durable, and separating them is what makes the system scalable.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F0"/>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F5D62"/>
          </a:solidFill>
          <a:ln/>
        </p:spPr>
      </p:sp>
      <p:sp>
        <p:nvSpPr>
          <p:cNvPr id="4" name="Shape 1"/>
          <p:cNvSpPr/>
          <p:nvPr/>
        </p:nvSpPr>
        <p:spPr>
          <a:xfrm>
            <a:off x="7589520" y="1554480"/>
            <a:ext cx="3749040" cy="3749040"/>
          </a:xfrm>
          <a:prstGeom prst="roundRect">
            <a:avLst>
              <a:gd name="adj" fmla="val 1220"/>
            </a:avLst>
          </a:prstGeom>
          <a:solidFill>
            <a:srgbClr val="E7EDE6"/>
          </a:solidFill>
          <a:ln w="12700">
            <a:solidFill>
              <a:srgbClr val="E7EDE6"/>
            </a:solidFill>
            <a:prstDash val="solid"/>
          </a:ln>
        </p:spPr>
      </p:sp>
      <p:sp>
        <p:nvSpPr>
          <p:cNvPr id="5" name="Shape 2"/>
          <p:cNvSpPr/>
          <p:nvPr/>
        </p:nvSpPr>
        <p:spPr>
          <a:xfrm>
            <a:off x="6858000" y="2606040"/>
            <a:ext cx="2194560" cy="2194560"/>
          </a:xfrm>
          <a:prstGeom prst="roundRect">
            <a:avLst>
              <a:gd name="adj" fmla="val 2083"/>
            </a:avLst>
          </a:prstGeom>
          <a:solidFill>
            <a:srgbClr val="F0E8DA"/>
          </a:solidFill>
          <a:ln w="12700">
            <a:solidFill>
              <a:srgbClr val="F0E8DA"/>
            </a:solidFill>
            <a:prstDash val="solid"/>
          </a:ln>
        </p:spPr>
      </p:sp>
      <p:sp>
        <p:nvSpPr>
          <p:cNvPr id="6" name="Text 3"/>
          <p:cNvSpPr/>
          <p:nvPr/>
        </p:nvSpPr>
        <p:spPr>
          <a:xfrm>
            <a:off x="6858000" y="2606040"/>
            <a:ext cx="2194560" cy="2194560"/>
          </a:xfrm>
          <a:prstGeom prst="rect">
            <a:avLst/>
          </a:prstGeom>
          <a:noFill/>
          <a:ln/>
        </p:spPr>
        <p:txBody>
          <a:bodyPr wrap="square" rtlCol="0" anchor="ctr"/>
          <a:lstStyle/>
          <a:p>
            <a:pPr algn="ctr" indent="0" marL="0">
              <a:buNone/>
            </a:pPr>
            <a:r>
              <a:rPr lang="en-US" sz="4400" dirty="0">
                <a:solidFill>
                  <a:srgbClr val="2F5D62"/>
                </a:solidFill>
                <a:latin typeface="Georgia" pitchFamily="34" charset="0"/>
                <a:ea typeface="Georgia" pitchFamily="34" charset="-122"/>
                <a:cs typeface="Georgia" pitchFamily="34" charset="-120"/>
              </a:rPr>
              <a:t>S3</a:t>
            </a:r>
            <a:endParaRPr lang="en-US" sz="4400" dirty="0"/>
          </a:p>
        </p:txBody>
      </p:sp>
      <p:sp>
        <p:nvSpPr>
          <p:cNvPr id="7" name="Text 4"/>
          <p:cNvSpPr/>
          <p:nvPr/>
        </p:nvSpPr>
        <p:spPr>
          <a:xfrm>
            <a:off x="868680" y="1645920"/>
            <a:ext cx="5943600" cy="274320"/>
          </a:xfrm>
          <a:prstGeom prst="rect">
            <a:avLst/>
          </a:prstGeom>
          <a:noFill/>
          <a:ln/>
        </p:spPr>
        <p:txBody>
          <a:bodyPr wrap="square" rtlCol="0" anchor="ctr"/>
          <a:lstStyle/>
          <a:p>
            <a:pPr indent="0" marL="0">
              <a:buNone/>
            </a:pPr>
            <a:r>
              <a:rPr lang="en-US" sz="1050" b="1" spc="240" kern="0" dirty="0">
                <a:solidFill>
                  <a:srgbClr val="2F5D62"/>
                </a:solidFill>
                <a:latin typeface="Calibri" pitchFamily="34" charset="0"/>
                <a:ea typeface="Calibri" pitchFamily="34" charset="-122"/>
                <a:cs typeface="Calibri" pitchFamily="34" charset="-120"/>
              </a:rPr>
              <a:t>AWS CLOUD COMPUTING   ·   PROJECT 26</a:t>
            </a:r>
            <a:endParaRPr lang="en-US" sz="1050" dirty="0"/>
          </a:p>
        </p:txBody>
      </p:sp>
      <p:sp>
        <p:nvSpPr>
          <p:cNvPr id="8" name="Text 5"/>
          <p:cNvSpPr/>
          <p:nvPr/>
        </p:nvSpPr>
        <p:spPr>
          <a:xfrm>
            <a:off x="868680" y="2011680"/>
            <a:ext cx="5669280" cy="2194560"/>
          </a:xfrm>
          <a:prstGeom prst="rect">
            <a:avLst/>
          </a:prstGeom>
          <a:noFill/>
          <a:ln/>
        </p:spPr>
        <p:txBody>
          <a:bodyPr wrap="square" rtlCol="0" anchor="ctr"/>
          <a:lstStyle/>
          <a:p>
            <a:pPr indent="0" marL="0">
              <a:lnSpc>
                <a:spcPts val="4400"/>
              </a:lnSpc>
              <a:buNone/>
            </a:pPr>
            <a:r>
              <a:rPr lang="en-US" sz="3600" dirty="0">
                <a:solidFill>
                  <a:srgbClr val="1C1E1C"/>
                </a:solidFill>
                <a:latin typeface="Georgia" pitchFamily="34" charset="0"/>
                <a:ea typeface="Georgia" pitchFamily="34" charset="-122"/>
                <a:cs typeface="Georgia" pitchFamily="34" charset="-120"/>
              </a:rPr>
              <a:t>Cloud-Based Image</a:t>
            </a:r>
            <a:endParaRPr lang="en-US" sz="3600" dirty="0"/>
          </a:p>
          <a:p>
            <a:pPr indent="0" marL="0">
              <a:lnSpc>
                <a:spcPts val="4400"/>
              </a:lnSpc>
              <a:buNone/>
            </a:pPr>
            <a:r>
              <a:rPr lang="en-US" sz="3600" dirty="0">
                <a:solidFill>
                  <a:srgbClr val="1C1E1C"/>
                </a:solidFill>
                <a:latin typeface="Georgia" pitchFamily="34" charset="0"/>
                <a:ea typeface="Georgia" pitchFamily="34" charset="-122"/>
                <a:cs typeface="Georgia" pitchFamily="34" charset="-120"/>
              </a:rPr>
              <a:t>Storage and</a:t>
            </a:r>
            <a:endParaRPr lang="en-US" sz="3600" dirty="0"/>
          </a:p>
          <a:p>
            <a:pPr indent="0" marL="0">
              <a:lnSpc>
                <a:spcPts val="4400"/>
              </a:lnSpc>
              <a:buNone/>
            </a:pPr>
            <a:r>
              <a:rPr lang="en-US" sz="3600" dirty="0">
                <a:solidFill>
                  <a:srgbClr val="1C1E1C"/>
                </a:solidFill>
                <a:latin typeface="Georgia" pitchFamily="34" charset="0"/>
                <a:ea typeface="Georgia" pitchFamily="34" charset="-122"/>
                <a:cs typeface="Georgia" pitchFamily="34" charset="-120"/>
              </a:rPr>
              <a:t>Gallery System</a:t>
            </a:r>
            <a:endParaRPr lang="en-US" sz="3600" dirty="0"/>
          </a:p>
        </p:txBody>
      </p:sp>
      <p:sp>
        <p:nvSpPr>
          <p:cNvPr id="9" name="Shape 6"/>
          <p:cNvSpPr/>
          <p:nvPr/>
        </p:nvSpPr>
        <p:spPr>
          <a:xfrm>
            <a:off x="868680" y="4526280"/>
            <a:ext cx="5303520" cy="0"/>
          </a:xfrm>
          <a:prstGeom prst="line">
            <a:avLst/>
          </a:prstGeom>
          <a:noFill/>
          <a:ln w="9525">
            <a:solidFill>
              <a:srgbClr val="DFDAD0"/>
            </a:solidFill>
            <a:prstDash val="solid"/>
          </a:ln>
        </p:spPr>
      </p:sp>
      <p:sp>
        <p:nvSpPr>
          <p:cNvPr id="10" name="Text 7"/>
          <p:cNvSpPr/>
          <p:nvPr/>
        </p:nvSpPr>
        <p:spPr>
          <a:xfrm>
            <a:off x="868680" y="4681728"/>
            <a:ext cx="5303520" cy="731520"/>
          </a:xfrm>
          <a:prstGeom prst="rect">
            <a:avLst/>
          </a:prstGeom>
          <a:noFill/>
          <a:ln/>
        </p:spPr>
        <p:txBody>
          <a:bodyPr wrap="square" rtlCol="0" anchor="ctr"/>
          <a:lstStyle/>
          <a:p>
            <a:pPr indent="0" marL="0">
              <a:lnSpc>
                <a:spcPts val="2200"/>
              </a:lnSpc>
              <a:buNone/>
            </a:pPr>
            <a:r>
              <a:rPr lang="en-US" sz="1400" dirty="0">
                <a:solidFill>
                  <a:srgbClr val="4D5551"/>
                </a:solidFill>
                <a:latin typeface="Calibri" pitchFamily="34" charset="0"/>
                <a:ea typeface="Calibri" pitchFamily="34" charset="-122"/>
                <a:cs typeface="Calibri" pitchFamily="34" charset="-120"/>
              </a:rPr>
              <a:t>A stateless web application on Amazon EC2 that keeps every uploaded image as an object in Amazon S3.</a:t>
            </a:r>
            <a:endParaRPr lang="en-US" sz="1400" dirty="0"/>
          </a:p>
        </p:txBody>
      </p:sp>
      <p:sp>
        <p:nvSpPr>
          <p:cNvPr id="11" name="Text 8"/>
          <p:cNvSpPr/>
          <p:nvPr/>
        </p:nvSpPr>
        <p:spPr>
          <a:xfrm>
            <a:off x="868680" y="5897880"/>
            <a:ext cx="6400800" cy="320040"/>
          </a:xfrm>
          <a:prstGeom prst="rect">
            <a:avLst/>
          </a:prstGeom>
          <a:noFill/>
          <a:ln/>
        </p:spPr>
        <p:txBody>
          <a:bodyPr wrap="square" rtlCol="0" anchor="ctr"/>
          <a:lstStyle/>
          <a:p>
            <a:pPr indent="0" marL="0">
              <a:buNone/>
            </a:pPr>
            <a:r>
              <a:rPr lang="en-US" sz="1200" dirty="0">
                <a:solidFill>
                  <a:srgbClr val="6E756F"/>
                </a:solidFill>
                <a:latin typeface="Calibri" pitchFamily="34" charset="0"/>
                <a:ea typeface="Calibri" pitchFamily="34" charset="-122"/>
                <a:cs typeface="Calibri" pitchFamily="34" charset="-120"/>
              </a:rPr>
              <a:t>Name   ·   Roll number   ·   Class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3" name="Text 0"/>
          <p:cNvSpPr/>
          <p:nvPr/>
        </p:nvSpPr>
        <p:spPr>
          <a:xfrm>
            <a:off x="868680" y="475488"/>
            <a:ext cx="7315200" cy="256032"/>
          </a:xfrm>
          <a:prstGeom prst="rect">
            <a:avLst/>
          </a:prstGeom>
          <a:noFill/>
          <a:ln/>
        </p:spPr>
        <p:txBody>
          <a:bodyPr wrap="square" rtlCol="0" anchor="ctr"/>
          <a:lstStyle/>
          <a:p>
            <a:pPr indent="0" marL="0">
              <a:buNone/>
            </a:pPr>
            <a:r>
              <a:rPr lang="en-US" sz="1050" b="1" spc="240" kern="0" dirty="0">
                <a:solidFill>
                  <a:srgbClr val="2F5D62"/>
                </a:solidFill>
                <a:latin typeface="Calibri" pitchFamily="34" charset="0"/>
                <a:ea typeface="Calibri" pitchFamily="34" charset="-122"/>
                <a:cs typeface="Calibri" pitchFamily="34" charset="-120"/>
              </a:rPr>
              <a:t>CONTENTS</a:t>
            </a:r>
            <a:endParaRPr lang="en-US" sz="1050" dirty="0"/>
          </a:p>
        </p:txBody>
      </p:sp>
      <p:sp>
        <p:nvSpPr>
          <p:cNvPr id="4" name="Text 1"/>
          <p:cNvSpPr/>
          <p:nvPr/>
        </p:nvSpPr>
        <p:spPr>
          <a:xfrm>
            <a:off x="868680" y="768096"/>
            <a:ext cx="9539935" cy="621792"/>
          </a:xfrm>
          <a:prstGeom prst="rect">
            <a:avLst/>
          </a:prstGeom>
          <a:noFill/>
          <a:ln/>
        </p:spPr>
        <p:txBody>
          <a:bodyPr wrap="square" rtlCol="0" anchor="ctr"/>
          <a:lstStyle/>
          <a:p>
            <a:pPr indent="0" marL="0">
              <a:buNone/>
            </a:pPr>
            <a:r>
              <a:rPr lang="en-US" sz="3000" dirty="0">
                <a:solidFill>
                  <a:srgbClr val="1C1E1C"/>
                </a:solidFill>
                <a:latin typeface="Georgia" pitchFamily="34" charset="0"/>
                <a:ea typeface="Georgia" pitchFamily="34" charset="-122"/>
                <a:cs typeface="Georgia" pitchFamily="34" charset="-120"/>
              </a:rPr>
              <a:t>What this presentation covers</a:t>
            </a:r>
            <a:endParaRPr lang="en-US" sz="3000" dirty="0"/>
          </a:p>
        </p:txBody>
      </p:sp>
      <p:sp>
        <p:nvSpPr>
          <p:cNvPr id="5" name="Text 2"/>
          <p:cNvSpPr/>
          <p:nvPr/>
        </p:nvSpPr>
        <p:spPr>
          <a:xfrm>
            <a:off x="10500055" y="868680"/>
            <a:ext cx="822960" cy="365760"/>
          </a:xfrm>
          <a:prstGeom prst="rect">
            <a:avLst/>
          </a:prstGeom>
          <a:noFill/>
          <a:ln/>
        </p:spPr>
        <p:txBody>
          <a:bodyPr wrap="square" rtlCol="0" anchor="ctr"/>
          <a:lstStyle/>
          <a:p>
            <a:pPr algn="r" indent="0" marL="0">
              <a:buNone/>
            </a:pPr>
            <a:r>
              <a:rPr lang="en-US" sz="1100" spc="100" kern="0" dirty="0">
                <a:solidFill>
                  <a:srgbClr val="6E756F"/>
                </a:solidFill>
                <a:latin typeface="Calibri" pitchFamily="34" charset="0"/>
                <a:ea typeface="Calibri" pitchFamily="34" charset="-122"/>
                <a:cs typeface="Calibri" pitchFamily="34" charset="-120"/>
              </a:rPr>
              <a:t>01</a:t>
            </a:r>
            <a:endParaRPr lang="en-US" sz="1100" dirty="0"/>
          </a:p>
        </p:txBody>
      </p:sp>
      <p:sp>
        <p:nvSpPr>
          <p:cNvPr id="6" name="Shape 3"/>
          <p:cNvSpPr/>
          <p:nvPr/>
        </p:nvSpPr>
        <p:spPr>
          <a:xfrm>
            <a:off x="868680" y="1572768"/>
            <a:ext cx="10454335" cy="0"/>
          </a:xfrm>
          <a:prstGeom prst="line">
            <a:avLst/>
          </a:prstGeom>
          <a:noFill/>
          <a:ln w="9525">
            <a:solidFill>
              <a:srgbClr val="DFDAD0"/>
            </a:solidFill>
            <a:prstDash val="solid"/>
          </a:ln>
        </p:spPr>
      </p:sp>
      <p:sp>
        <p:nvSpPr>
          <p:cNvPr id="7" name="Text 4"/>
          <p:cNvSpPr/>
          <p:nvPr/>
        </p:nvSpPr>
        <p:spPr>
          <a:xfrm>
            <a:off x="868680" y="1993392"/>
            <a:ext cx="640080" cy="384048"/>
          </a:xfrm>
          <a:prstGeom prst="rect">
            <a:avLst/>
          </a:prstGeom>
          <a:noFill/>
          <a:ln/>
        </p:spPr>
        <p:txBody>
          <a:bodyPr wrap="square" rtlCol="0" anchor="ctr"/>
          <a:lstStyle/>
          <a:p>
            <a:pPr indent="0" marL="0">
              <a:buNone/>
            </a:pPr>
            <a:r>
              <a:rPr lang="en-US" sz="1900" dirty="0">
                <a:solidFill>
                  <a:srgbClr val="2F5D62"/>
                </a:solidFill>
                <a:latin typeface="Georgia" pitchFamily="34" charset="0"/>
                <a:ea typeface="Georgia" pitchFamily="34" charset="-122"/>
                <a:cs typeface="Georgia" pitchFamily="34" charset="-120"/>
              </a:rPr>
              <a:t>01</a:t>
            </a:r>
            <a:endParaRPr lang="en-US" sz="1900" dirty="0"/>
          </a:p>
        </p:txBody>
      </p:sp>
      <p:sp>
        <p:nvSpPr>
          <p:cNvPr id="8" name="Text 5"/>
          <p:cNvSpPr/>
          <p:nvPr/>
        </p:nvSpPr>
        <p:spPr>
          <a:xfrm>
            <a:off x="1554480" y="2011680"/>
            <a:ext cx="4114800" cy="365760"/>
          </a:xfrm>
          <a:prstGeom prst="rect">
            <a:avLst/>
          </a:prstGeom>
          <a:noFill/>
          <a:ln/>
        </p:spPr>
        <p:txBody>
          <a:bodyPr wrap="square" rtlCol="0" anchor="ctr"/>
          <a:lstStyle/>
          <a:p>
            <a:pPr indent="0" marL="0">
              <a:buNone/>
            </a:pPr>
            <a:r>
              <a:rPr lang="en-US" sz="1800" dirty="0">
                <a:solidFill>
                  <a:srgbClr val="1C1E1C"/>
                </a:solidFill>
                <a:latin typeface="Georgia" pitchFamily="34" charset="0"/>
                <a:ea typeface="Georgia" pitchFamily="34" charset="-122"/>
                <a:cs typeface="Georgia" pitchFamily="34" charset="-120"/>
              </a:rPr>
              <a:t>The problem</a:t>
            </a:r>
            <a:endParaRPr lang="en-US" sz="1800" dirty="0"/>
          </a:p>
        </p:txBody>
      </p:sp>
      <p:sp>
        <p:nvSpPr>
          <p:cNvPr id="9" name="Text 6"/>
          <p:cNvSpPr/>
          <p:nvPr/>
        </p:nvSpPr>
        <p:spPr>
          <a:xfrm>
            <a:off x="1554480" y="2414016"/>
            <a:ext cx="4297680" cy="411480"/>
          </a:xfrm>
          <a:prstGeom prst="rect">
            <a:avLst/>
          </a:prstGeom>
          <a:noFill/>
          <a:ln/>
        </p:spPr>
        <p:txBody>
          <a:bodyPr wrap="square" rtlCol="0" anchor="ctr"/>
          <a:lstStyle/>
          <a:p>
            <a:pPr indent="0" marL="0">
              <a:buNone/>
            </a:pPr>
            <a:r>
              <a:rPr lang="en-US" sz="1300" dirty="0">
                <a:solidFill>
                  <a:srgbClr val="4D5551"/>
                </a:solidFill>
                <a:latin typeface="Calibri" pitchFamily="34" charset="0"/>
                <a:ea typeface="Calibri" pitchFamily="34" charset="-122"/>
                <a:cs typeface="Calibri" pitchFamily="34" charset="-120"/>
              </a:rPr>
              <a:t>Why one server is the wrong place for files</a:t>
            </a:r>
            <a:endParaRPr lang="en-US" sz="1300" dirty="0"/>
          </a:p>
        </p:txBody>
      </p:sp>
      <p:sp>
        <p:nvSpPr>
          <p:cNvPr id="10" name="Shape 7"/>
          <p:cNvSpPr/>
          <p:nvPr/>
        </p:nvSpPr>
        <p:spPr>
          <a:xfrm>
            <a:off x="868680" y="2999232"/>
            <a:ext cx="4907128" cy="0"/>
          </a:xfrm>
          <a:prstGeom prst="line">
            <a:avLst/>
          </a:prstGeom>
          <a:noFill/>
          <a:ln w="9525">
            <a:solidFill>
              <a:srgbClr val="DFDAD0"/>
            </a:solidFill>
            <a:prstDash val="solid"/>
          </a:ln>
        </p:spPr>
      </p:sp>
      <p:sp>
        <p:nvSpPr>
          <p:cNvPr id="11" name="Text 8"/>
          <p:cNvSpPr/>
          <p:nvPr/>
        </p:nvSpPr>
        <p:spPr>
          <a:xfrm>
            <a:off x="6370168" y="1993392"/>
            <a:ext cx="640080" cy="384048"/>
          </a:xfrm>
          <a:prstGeom prst="rect">
            <a:avLst/>
          </a:prstGeom>
          <a:noFill/>
          <a:ln/>
        </p:spPr>
        <p:txBody>
          <a:bodyPr wrap="square" rtlCol="0" anchor="ctr"/>
          <a:lstStyle/>
          <a:p>
            <a:pPr indent="0" marL="0">
              <a:buNone/>
            </a:pPr>
            <a:r>
              <a:rPr lang="en-US" sz="1900" dirty="0">
                <a:solidFill>
                  <a:srgbClr val="2F5D62"/>
                </a:solidFill>
                <a:latin typeface="Georgia" pitchFamily="34" charset="0"/>
                <a:ea typeface="Georgia" pitchFamily="34" charset="-122"/>
                <a:cs typeface="Georgia" pitchFamily="34" charset="-120"/>
              </a:rPr>
              <a:t>02</a:t>
            </a:r>
            <a:endParaRPr lang="en-US" sz="1900" dirty="0"/>
          </a:p>
        </p:txBody>
      </p:sp>
      <p:sp>
        <p:nvSpPr>
          <p:cNvPr id="12" name="Text 9"/>
          <p:cNvSpPr/>
          <p:nvPr/>
        </p:nvSpPr>
        <p:spPr>
          <a:xfrm>
            <a:off x="7055968" y="2011680"/>
            <a:ext cx="4114800" cy="365760"/>
          </a:xfrm>
          <a:prstGeom prst="rect">
            <a:avLst/>
          </a:prstGeom>
          <a:noFill/>
          <a:ln/>
        </p:spPr>
        <p:txBody>
          <a:bodyPr wrap="square" rtlCol="0" anchor="ctr"/>
          <a:lstStyle/>
          <a:p>
            <a:pPr indent="0" marL="0">
              <a:buNone/>
            </a:pPr>
            <a:r>
              <a:rPr lang="en-US" sz="1800" dirty="0">
                <a:solidFill>
                  <a:srgbClr val="1C1E1C"/>
                </a:solidFill>
                <a:latin typeface="Georgia" pitchFamily="34" charset="0"/>
                <a:ea typeface="Georgia" pitchFamily="34" charset="-122"/>
                <a:cs typeface="Georgia" pitchFamily="34" charset="-120"/>
              </a:rPr>
              <a:t>Objective and scope</a:t>
            </a:r>
            <a:endParaRPr lang="en-US" sz="1800" dirty="0"/>
          </a:p>
        </p:txBody>
      </p:sp>
      <p:sp>
        <p:nvSpPr>
          <p:cNvPr id="13" name="Text 10"/>
          <p:cNvSpPr/>
          <p:nvPr/>
        </p:nvSpPr>
        <p:spPr>
          <a:xfrm>
            <a:off x="7055968" y="2414016"/>
            <a:ext cx="4297680" cy="411480"/>
          </a:xfrm>
          <a:prstGeom prst="rect">
            <a:avLst/>
          </a:prstGeom>
          <a:noFill/>
          <a:ln/>
        </p:spPr>
        <p:txBody>
          <a:bodyPr wrap="square" rtlCol="0" anchor="ctr"/>
          <a:lstStyle/>
          <a:p>
            <a:pPr indent="0" marL="0">
              <a:buNone/>
            </a:pPr>
            <a:r>
              <a:rPr lang="en-US" sz="1300" dirty="0">
                <a:solidFill>
                  <a:srgbClr val="4D5551"/>
                </a:solidFill>
                <a:latin typeface="Calibri" pitchFamily="34" charset="0"/>
                <a:ea typeface="Calibri" pitchFamily="34" charset="-122"/>
                <a:cs typeface="Calibri" pitchFamily="34" charset="-120"/>
              </a:rPr>
              <a:t>What the system does, and what it does not</a:t>
            </a:r>
            <a:endParaRPr lang="en-US" sz="1300" dirty="0"/>
          </a:p>
        </p:txBody>
      </p:sp>
      <p:sp>
        <p:nvSpPr>
          <p:cNvPr id="14" name="Shape 11"/>
          <p:cNvSpPr/>
          <p:nvPr/>
        </p:nvSpPr>
        <p:spPr>
          <a:xfrm>
            <a:off x="6370168" y="2999232"/>
            <a:ext cx="4907128" cy="0"/>
          </a:xfrm>
          <a:prstGeom prst="line">
            <a:avLst/>
          </a:prstGeom>
          <a:noFill/>
          <a:ln w="9525">
            <a:solidFill>
              <a:srgbClr val="DFDAD0"/>
            </a:solidFill>
            <a:prstDash val="solid"/>
          </a:ln>
        </p:spPr>
      </p:sp>
      <p:sp>
        <p:nvSpPr>
          <p:cNvPr id="15" name="Text 12"/>
          <p:cNvSpPr/>
          <p:nvPr/>
        </p:nvSpPr>
        <p:spPr>
          <a:xfrm>
            <a:off x="868680" y="3364992"/>
            <a:ext cx="640080" cy="384048"/>
          </a:xfrm>
          <a:prstGeom prst="rect">
            <a:avLst/>
          </a:prstGeom>
          <a:noFill/>
          <a:ln/>
        </p:spPr>
        <p:txBody>
          <a:bodyPr wrap="square" rtlCol="0" anchor="ctr"/>
          <a:lstStyle/>
          <a:p>
            <a:pPr indent="0" marL="0">
              <a:buNone/>
            </a:pPr>
            <a:r>
              <a:rPr lang="en-US" sz="1900" dirty="0">
                <a:solidFill>
                  <a:srgbClr val="2F5D62"/>
                </a:solidFill>
                <a:latin typeface="Georgia" pitchFamily="34" charset="0"/>
                <a:ea typeface="Georgia" pitchFamily="34" charset="-122"/>
                <a:cs typeface="Georgia" pitchFamily="34" charset="-120"/>
              </a:rPr>
              <a:t>03</a:t>
            </a:r>
            <a:endParaRPr lang="en-US" sz="1900" dirty="0"/>
          </a:p>
        </p:txBody>
      </p:sp>
      <p:sp>
        <p:nvSpPr>
          <p:cNvPr id="16" name="Text 13"/>
          <p:cNvSpPr/>
          <p:nvPr/>
        </p:nvSpPr>
        <p:spPr>
          <a:xfrm>
            <a:off x="1554480" y="3383280"/>
            <a:ext cx="4114800" cy="365760"/>
          </a:xfrm>
          <a:prstGeom prst="rect">
            <a:avLst/>
          </a:prstGeom>
          <a:noFill/>
          <a:ln/>
        </p:spPr>
        <p:txBody>
          <a:bodyPr wrap="square" rtlCol="0" anchor="ctr"/>
          <a:lstStyle/>
          <a:p>
            <a:pPr indent="0" marL="0">
              <a:buNone/>
            </a:pPr>
            <a:r>
              <a:rPr lang="en-US" sz="1800" dirty="0">
                <a:solidFill>
                  <a:srgbClr val="1C1E1C"/>
                </a:solidFill>
                <a:latin typeface="Georgia" pitchFamily="34" charset="0"/>
                <a:ea typeface="Georgia" pitchFamily="34" charset="-122"/>
                <a:cs typeface="Georgia" pitchFamily="34" charset="-120"/>
              </a:rPr>
              <a:t>The AWS services</a:t>
            </a:r>
            <a:endParaRPr lang="en-US" sz="1800" dirty="0"/>
          </a:p>
        </p:txBody>
      </p:sp>
      <p:sp>
        <p:nvSpPr>
          <p:cNvPr id="17" name="Text 14"/>
          <p:cNvSpPr/>
          <p:nvPr/>
        </p:nvSpPr>
        <p:spPr>
          <a:xfrm>
            <a:off x="1554480" y="3785616"/>
            <a:ext cx="4297680" cy="411480"/>
          </a:xfrm>
          <a:prstGeom prst="rect">
            <a:avLst/>
          </a:prstGeom>
          <a:noFill/>
          <a:ln/>
        </p:spPr>
        <p:txBody>
          <a:bodyPr wrap="square" rtlCol="0" anchor="ctr"/>
          <a:lstStyle/>
          <a:p>
            <a:pPr indent="0" marL="0">
              <a:buNone/>
            </a:pPr>
            <a:r>
              <a:rPr lang="en-US" sz="1300" dirty="0">
                <a:solidFill>
                  <a:srgbClr val="4D5551"/>
                </a:solidFill>
                <a:latin typeface="Calibri" pitchFamily="34" charset="0"/>
                <a:ea typeface="Calibri" pitchFamily="34" charset="-122"/>
                <a:cs typeface="Calibri" pitchFamily="34" charset="-120"/>
              </a:rPr>
              <a:t>EC2, S3 and the role that connects them</a:t>
            </a:r>
            <a:endParaRPr lang="en-US" sz="1300" dirty="0"/>
          </a:p>
        </p:txBody>
      </p:sp>
      <p:sp>
        <p:nvSpPr>
          <p:cNvPr id="18" name="Shape 15"/>
          <p:cNvSpPr/>
          <p:nvPr/>
        </p:nvSpPr>
        <p:spPr>
          <a:xfrm>
            <a:off x="868680" y="4370832"/>
            <a:ext cx="4907128" cy="0"/>
          </a:xfrm>
          <a:prstGeom prst="line">
            <a:avLst/>
          </a:prstGeom>
          <a:noFill/>
          <a:ln w="9525">
            <a:solidFill>
              <a:srgbClr val="DFDAD0"/>
            </a:solidFill>
            <a:prstDash val="solid"/>
          </a:ln>
        </p:spPr>
      </p:sp>
      <p:sp>
        <p:nvSpPr>
          <p:cNvPr id="19" name="Text 16"/>
          <p:cNvSpPr/>
          <p:nvPr/>
        </p:nvSpPr>
        <p:spPr>
          <a:xfrm>
            <a:off x="6370168" y="3364992"/>
            <a:ext cx="640080" cy="384048"/>
          </a:xfrm>
          <a:prstGeom prst="rect">
            <a:avLst/>
          </a:prstGeom>
          <a:noFill/>
          <a:ln/>
        </p:spPr>
        <p:txBody>
          <a:bodyPr wrap="square" rtlCol="0" anchor="ctr"/>
          <a:lstStyle/>
          <a:p>
            <a:pPr indent="0" marL="0">
              <a:buNone/>
            </a:pPr>
            <a:r>
              <a:rPr lang="en-US" sz="1900" dirty="0">
                <a:solidFill>
                  <a:srgbClr val="2F5D62"/>
                </a:solidFill>
                <a:latin typeface="Georgia" pitchFamily="34" charset="0"/>
                <a:ea typeface="Georgia" pitchFamily="34" charset="-122"/>
                <a:cs typeface="Georgia" pitchFamily="34" charset="-120"/>
              </a:rPr>
              <a:t>04</a:t>
            </a:r>
            <a:endParaRPr lang="en-US" sz="1900" dirty="0"/>
          </a:p>
        </p:txBody>
      </p:sp>
      <p:sp>
        <p:nvSpPr>
          <p:cNvPr id="20" name="Text 17"/>
          <p:cNvSpPr/>
          <p:nvPr/>
        </p:nvSpPr>
        <p:spPr>
          <a:xfrm>
            <a:off x="7055968" y="3383280"/>
            <a:ext cx="4114800" cy="365760"/>
          </a:xfrm>
          <a:prstGeom prst="rect">
            <a:avLst/>
          </a:prstGeom>
          <a:noFill/>
          <a:ln/>
        </p:spPr>
        <p:txBody>
          <a:bodyPr wrap="square" rtlCol="0" anchor="ctr"/>
          <a:lstStyle/>
          <a:p>
            <a:pPr indent="0" marL="0">
              <a:buNone/>
            </a:pPr>
            <a:r>
              <a:rPr lang="en-US" sz="1800" dirty="0">
                <a:solidFill>
                  <a:srgbClr val="1C1E1C"/>
                </a:solidFill>
                <a:latin typeface="Georgia" pitchFamily="34" charset="0"/>
                <a:ea typeface="Georgia" pitchFamily="34" charset="-122"/>
                <a:cs typeface="Georgia" pitchFamily="34" charset="-120"/>
              </a:rPr>
              <a:t>Architecture</a:t>
            </a:r>
            <a:endParaRPr lang="en-US" sz="1800" dirty="0"/>
          </a:p>
        </p:txBody>
      </p:sp>
      <p:sp>
        <p:nvSpPr>
          <p:cNvPr id="21" name="Text 18"/>
          <p:cNvSpPr/>
          <p:nvPr/>
        </p:nvSpPr>
        <p:spPr>
          <a:xfrm>
            <a:off x="7055968" y="3785616"/>
            <a:ext cx="4297680" cy="411480"/>
          </a:xfrm>
          <a:prstGeom prst="rect">
            <a:avLst/>
          </a:prstGeom>
          <a:noFill/>
          <a:ln/>
        </p:spPr>
        <p:txBody>
          <a:bodyPr wrap="square" rtlCol="0" anchor="ctr"/>
          <a:lstStyle/>
          <a:p>
            <a:pPr indent="0" marL="0">
              <a:buNone/>
            </a:pPr>
            <a:r>
              <a:rPr lang="en-US" sz="1300" dirty="0">
                <a:solidFill>
                  <a:srgbClr val="4D5551"/>
                </a:solidFill>
                <a:latin typeface="Calibri" pitchFamily="34" charset="0"/>
                <a:ea typeface="Calibri" pitchFamily="34" charset="-122"/>
                <a:cs typeface="Calibri" pitchFamily="34" charset="-120"/>
              </a:rPr>
              <a:t>How a request travels from browser to bucket</a:t>
            </a:r>
            <a:endParaRPr lang="en-US" sz="1300" dirty="0"/>
          </a:p>
        </p:txBody>
      </p:sp>
      <p:sp>
        <p:nvSpPr>
          <p:cNvPr id="22" name="Shape 19"/>
          <p:cNvSpPr/>
          <p:nvPr/>
        </p:nvSpPr>
        <p:spPr>
          <a:xfrm>
            <a:off x="6370168" y="4370832"/>
            <a:ext cx="4907128" cy="0"/>
          </a:xfrm>
          <a:prstGeom prst="line">
            <a:avLst/>
          </a:prstGeom>
          <a:noFill/>
          <a:ln w="9525">
            <a:solidFill>
              <a:srgbClr val="DFDAD0"/>
            </a:solidFill>
            <a:prstDash val="solid"/>
          </a:ln>
        </p:spPr>
      </p:sp>
      <p:sp>
        <p:nvSpPr>
          <p:cNvPr id="23" name="Text 20"/>
          <p:cNvSpPr/>
          <p:nvPr/>
        </p:nvSpPr>
        <p:spPr>
          <a:xfrm>
            <a:off x="868680" y="4736592"/>
            <a:ext cx="640080" cy="384048"/>
          </a:xfrm>
          <a:prstGeom prst="rect">
            <a:avLst/>
          </a:prstGeom>
          <a:noFill/>
          <a:ln/>
        </p:spPr>
        <p:txBody>
          <a:bodyPr wrap="square" rtlCol="0" anchor="ctr"/>
          <a:lstStyle/>
          <a:p>
            <a:pPr indent="0" marL="0">
              <a:buNone/>
            </a:pPr>
            <a:r>
              <a:rPr lang="en-US" sz="1900" dirty="0">
                <a:solidFill>
                  <a:srgbClr val="2F5D62"/>
                </a:solidFill>
                <a:latin typeface="Georgia" pitchFamily="34" charset="0"/>
                <a:ea typeface="Georgia" pitchFamily="34" charset="-122"/>
                <a:cs typeface="Georgia" pitchFamily="34" charset="-120"/>
              </a:rPr>
              <a:t>05</a:t>
            </a:r>
            <a:endParaRPr lang="en-US" sz="1900" dirty="0"/>
          </a:p>
        </p:txBody>
      </p:sp>
      <p:sp>
        <p:nvSpPr>
          <p:cNvPr id="24" name="Text 21"/>
          <p:cNvSpPr/>
          <p:nvPr/>
        </p:nvSpPr>
        <p:spPr>
          <a:xfrm>
            <a:off x="1554480" y="4754880"/>
            <a:ext cx="4114800" cy="365760"/>
          </a:xfrm>
          <a:prstGeom prst="rect">
            <a:avLst/>
          </a:prstGeom>
          <a:noFill/>
          <a:ln/>
        </p:spPr>
        <p:txBody>
          <a:bodyPr wrap="square" rtlCol="0" anchor="ctr"/>
          <a:lstStyle/>
          <a:p>
            <a:pPr indent="0" marL="0">
              <a:buNone/>
            </a:pPr>
            <a:r>
              <a:rPr lang="en-US" sz="1800" dirty="0">
                <a:solidFill>
                  <a:srgbClr val="1C1E1C"/>
                </a:solidFill>
                <a:latin typeface="Georgia" pitchFamily="34" charset="0"/>
                <a:ea typeface="Georgia" pitchFamily="34" charset="-122"/>
                <a:cs typeface="Georgia" pitchFamily="34" charset="-120"/>
              </a:rPr>
              <a:t>Security</a:t>
            </a:r>
            <a:endParaRPr lang="en-US" sz="1800" dirty="0"/>
          </a:p>
        </p:txBody>
      </p:sp>
      <p:sp>
        <p:nvSpPr>
          <p:cNvPr id="25" name="Text 22"/>
          <p:cNvSpPr/>
          <p:nvPr/>
        </p:nvSpPr>
        <p:spPr>
          <a:xfrm>
            <a:off x="1554480" y="5157216"/>
            <a:ext cx="4297680" cy="411480"/>
          </a:xfrm>
          <a:prstGeom prst="rect">
            <a:avLst/>
          </a:prstGeom>
          <a:noFill/>
          <a:ln/>
        </p:spPr>
        <p:txBody>
          <a:bodyPr wrap="square" rtlCol="0" anchor="ctr"/>
          <a:lstStyle/>
          <a:p>
            <a:pPr indent="0" marL="0">
              <a:buNone/>
            </a:pPr>
            <a:r>
              <a:rPr lang="en-US" sz="1300" dirty="0">
                <a:solidFill>
                  <a:srgbClr val="4D5551"/>
                </a:solidFill>
                <a:latin typeface="Calibri" pitchFamily="34" charset="0"/>
                <a:ea typeface="Calibri" pitchFamily="34" charset="-122"/>
                <a:cs typeface="Calibri" pitchFamily="34" charset="-120"/>
              </a:rPr>
              <a:t>Keeping the bucket private with signed links</a:t>
            </a:r>
            <a:endParaRPr lang="en-US" sz="1300" dirty="0"/>
          </a:p>
        </p:txBody>
      </p:sp>
      <p:sp>
        <p:nvSpPr>
          <p:cNvPr id="26" name="Shape 23"/>
          <p:cNvSpPr/>
          <p:nvPr/>
        </p:nvSpPr>
        <p:spPr>
          <a:xfrm>
            <a:off x="868680" y="5742432"/>
            <a:ext cx="4907128" cy="0"/>
          </a:xfrm>
          <a:prstGeom prst="line">
            <a:avLst/>
          </a:prstGeom>
          <a:noFill/>
          <a:ln w="9525">
            <a:solidFill>
              <a:srgbClr val="DFDAD0"/>
            </a:solidFill>
            <a:prstDash val="solid"/>
          </a:ln>
        </p:spPr>
      </p:sp>
      <p:sp>
        <p:nvSpPr>
          <p:cNvPr id="27" name="Text 24"/>
          <p:cNvSpPr/>
          <p:nvPr/>
        </p:nvSpPr>
        <p:spPr>
          <a:xfrm>
            <a:off x="6370168" y="4736592"/>
            <a:ext cx="640080" cy="384048"/>
          </a:xfrm>
          <a:prstGeom prst="rect">
            <a:avLst/>
          </a:prstGeom>
          <a:noFill/>
          <a:ln/>
        </p:spPr>
        <p:txBody>
          <a:bodyPr wrap="square" rtlCol="0" anchor="ctr"/>
          <a:lstStyle/>
          <a:p>
            <a:pPr indent="0" marL="0">
              <a:buNone/>
            </a:pPr>
            <a:r>
              <a:rPr lang="en-US" sz="1900" dirty="0">
                <a:solidFill>
                  <a:srgbClr val="2F5D62"/>
                </a:solidFill>
                <a:latin typeface="Georgia" pitchFamily="34" charset="0"/>
                <a:ea typeface="Georgia" pitchFamily="34" charset="-122"/>
                <a:cs typeface="Georgia" pitchFamily="34" charset="-120"/>
              </a:rPr>
              <a:t>06</a:t>
            </a:r>
            <a:endParaRPr lang="en-US" sz="1900" dirty="0"/>
          </a:p>
        </p:txBody>
      </p:sp>
      <p:sp>
        <p:nvSpPr>
          <p:cNvPr id="28" name="Text 25"/>
          <p:cNvSpPr/>
          <p:nvPr/>
        </p:nvSpPr>
        <p:spPr>
          <a:xfrm>
            <a:off x="7055968" y="4754880"/>
            <a:ext cx="4114800" cy="365760"/>
          </a:xfrm>
          <a:prstGeom prst="rect">
            <a:avLst/>
          </a:prstGeom>
          <a:noFill/>
          <a:ln/>
        </p:spPr>
        <p:txBody>
          <a:bodyPr wrap="square" rtlCol="0" anchor="ctr"/>
          <a:lstStyle/>
          <a:p>
            <a:pPr indent="0" marL="0">
              <a:buNone/>
            </a:pPr>
            <a:r>
              <a:rPr lang="en-US" sz="1800" dirty="0">
                <a:solidFill>
                  <a:srgbClr val="1C1E1C"/>
                </a:solidFill>
                <a:latin typeface="Georgia" pitchFamily="34" charset="0"/>
                <a:ea typeface="Georgia" pitchFamily="34" charset="-122"/>
                <a:cs typeface="Georgia" pitchFamily="34" charset="-120"/>
              </a:rPr>
              <a:t>Demonstration</a:t>
            </a:r>
            <a:endParaRPr lang="en-US" sz="1800" dirty="0"/>
          </a:p>
        </p:txBody>
      </p:sp>
      <p:sp>
        <p:nvSpPr>
          <p:cNvPr id="29" name="Text 26"/>
          <p:cNvSpPr/>
          <p:nvPr/>
        </p:nvSpPr>
        <p:spPr>
          <a:xfrm>
            <a:off x="7055968" y="5157216"/>
            <a:ext cx="4297680" cy="411480"/>
          </a:xfrm>
          <a:prstGeom prst="rect">
            <a:avLst/>
          </a:prstGeom>
          <a:noFill/>
          <a:ln/>
        </p:spPr>
        <p:txBody>
          <a:bodyPr wrap="square" rtlCol="0" anchor="ctr"/>
          <a:lstStyle/>
          <a:p>
            <a:pPr indent="0" marL="0">
              <a:buNone/>
            </a:pPr>
            <a:r>
              <a:rPr lang="en-US" sz="1300" dirty="0">
                <a:solidFill>
                  <a:srgbClr val="4D5551"/>
                </a:solidFill>
                <a:latin typeface="Calibri" pitchFamily="34" charset="0"/>
                <a:ea typeface="Calibri" pitchFamily="34" charset="-122"/>
                <a:cs typeface="Calibri" pitchFamily="34" charset="-120"/>
              </a:rPr>
              <a:t>The running application and its test results</a:t>
            </a:r>
            <a:endParaRPr lang="en-US" sz="1300" dirty="0"/>
          </a:p>
        </p:txBody>
      </p:sp>
      <p:sp>
        <p:nvSpPr>
          <p:cNvPr id="30" name="Shape 27"/>
          <p:cNvSpPr/>
          <p:nvPr/>
        </p:nvSpPr>
        <p:spPr>
          <a:xfrm>
            <a:off x="6370168" y="5742432"/>
            <a:ext cx="4907128" cy="0"/>
          </a:xfrm>
          <a:prstGeom prst="line">
            <a:avLst/>
          </a:prstGeom>
          <a:noFill/>
          <a:ln w="9525">
            <a:solidFill>
              <a:srgbClr val="DFDAD0"/>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3" name="Text 0"/>
          <p:cNvSpPr/>
          <p:nvPr/>
        </p:nvSpPr>
        <p:spPr>
          <a:xfrm>
            <a:off x="868680" y="475488"/>
            <a:ext cx="7315200" cy="256032"/>
          </a:xfrm>
          <a:prstGeom prst="rect">
            <a:avLst/>
          </a:prstGeom>
          <a:noFill/>
          <a:ln/>
        </p:spPr>
        <p:txBody>
          <a:bodyPr wrap="square" rtlCol="0" anchor="ctr"/>
          <a:lstStyle/>
          <a:p>
            <a:pPr indent="0" marL="0">
              <a:buNone/>
            </a:pPr>
            <a:r>
              <a:rPr lang="en-US" sz="1050" b="1" spc="240" kern="0" dirty="0">
                <a:solidFill>
                  <a:srgbClr val="2F5D62"/>
                </a:solidFill>
                <a:latin typeface="Calibri" pitchFamily="34" charset="0"/>
                <a:ea typeface="Calibri" pitchFamily="34" charset="-122"/>
                <a:cs typeface="Calibri" pitchFamily="34" charset="-120"/>
              </a:rPr>
              <a:t>THE PROBLEM</a:t>
            </a:r>
            <a:endParaRPr lang="en-US" sz="1050" dirty="0"/>
          </a:p>
        </p:txBody>
      </p:sp>
      <p:sp>
        <p:nvSpPr>
          <p:cNvPr id="4" name="Text 1"/>
          <p:cNvSpPr/>
          <p:nvPr/>
        </p:nvSpPr>
        <p:spPr>
          <a:xfrm>
            <a:off x="868680" y="768096"/>
            <a:ext cx="9539935" cy="621792"/>
          </a:xfrm>
          <a:prstGeom prst="rect">
            <a:avLst/>
          </a:prstGeom>
          <a:noFill/>
          <a:ln/>
        </p:spPr>
        <p:txBody>
          <a:bodyPr wrap="square" rtlCol="0" anchor="ctr"/>
          <a:lstStyle/>
          <a:p>
            <a:pPr indent="0" marL="0">
              <a:buNone/>
            </a:pPr>
            <a:r>
              <a:rPr lang="en-US" sz="3000" dirty="0">
                <a:solidFill>
                  <a:srgbClr val="1C1E1C"/>
                </a:solidFill>
                <a:latin typeface="Georgia" pitchFamily="34" charset="0"/>
                <a:ea typeface="Georgia" pitchFamily="34" charset="-122"/>
                <a:cs typeface="Georgia" pitchFamily="34" charset="-120"/>
              </a:rPr>
              <a:t>Why not just store images on the server?</a:t>
            </a:r>
            <a:endParaRPr lang="en-US" sz="3000" dirty="0"/>
          </a:p>
        </p:txBody>
      </p:sp>
      <p:sp>
        <p:nvSpPr>
          <p:cNvPr id="5" name="Text 2"/>
          <p:cNvSpPr/>
          <p:nvPr/>
        </p:nvSpPr>
        <p:spPr>
          <a:xfrm>
            <a:off x="10500055" y="868680"/>
            <a:ext cx="822960" cy="365760"/>
          </a:xfrm>
          <a:prstGeom prst="rect">
            <a:avLst/>
          </a:prstGeom>
          <a:noFill/>
          <a:ln/>
        </p:spPr>
        <p:txBody>
          <a:bodyPr wrap="square" rtlCol="0" anchor="ctr"/>
          <a:lstStyle/>
          <a:p>
            <a:pPr algn="r" indent="0" marL="0">
              <a:buNone/>
            </a:pPr>
            <a:r>
              <a:rPr lang="en-US" sz="1100" spc="100" kern="0" dirty="0">
                <a:solidFill>
                  <a:srgbClr val="6E756F"/>
                </a:solidFill>
                <a:latin typeface="Calibri" pitchFamily="34" charset="0"/>
                <a:ea typeface="Calibri" pitchFamily="34" charset="-122"/>
                <a:cs typeface="Calibri" pitchFamily="34" charset="-120"/>
              </a:rPr>
              <a:t>02</a:t>
            </a:r>
            <a:endParaRPr lang="en-US" sz="1100" dirty="0"/>
          </a:p>
        </p:txBody>
      </p:sp>
      <p:sp>
        <p:nvSpPr>
          <p:cNvPr id="6" name="Shape 3"/>
          <p:cNvSpPr/>
          <p:nvPr/>
        </p:nvSpPr>
        <p:spPr>
          <a:xfrm>
            <a:off x="868680" y="1572768"/>
            <a:ext cx="10454335" cy="0"/>
          </a:xfrm>
          <a:prstGeom prst="line">
            <a:avLst/>
          </a:prstGeom>
          <a:noFill/>
          <a:ln w="9525">
            <a:solidFill>
              <a:srgbClr val="DFDAD0"/>
            </a:solidFill>
            <a:prstDash val="solid"/>
          </a:ln>
        </p:spPr>
      </p:sp>
      <p:sp>
        <p:nvSpPr>
          <p:cNvPr id="7" name="Text 4"/>
          <p:cNvSpPr/>
          <p:nvPr/>
        </p:nvSpPr>
        <p:spPr>
          <a:xfrm>
            <a:off x="868680" y="1828800"/>
            <a:ext cx="7315200" cy="640080"/>
          </a:xfrm>
          <a:prstGeom prst="rect">
            <a:avLst/>
          </a:prstGeom>
          <a:noFill/>
          <a:ln/>
        </p:spPr>
        <p:txBody>
          <a:bodyPr wrap="square" rtlCol="0" anchor="ctr"/>
          <a:lstStyle/>
          <a:p>
            <a:pPr indent="0" marL="0">
              <a:lnSpc>
                <a:spcPts val="2300"/>
              </a:lnSpc>
              <a:buNone/>
            </a:pPr>
            <a:r>
              <a:rPr lang="en-US" sz="1450" dirty="0">
                <a:solidFill>
                  <a:srgbClr val="4D5551"/>
                </a:solidFill>
                <a:latin typeface="Calibri" pitchFamily="34" charset="0"/>
                <a:ea typeface="Calibri" pitchFamily="34" charset="-122"/>
                <a:cs typeface="Calibri" pitchFamily="34" charset="-120"/>
              </a:rPr>
              <a:t>Build this the ordinary way and every photo lands on one machine's disk. Four things then go wrong, and all of them go wrong quietly.</a:t>
            </a:r>
            <a:endParaRPr lang="en-US" sz="1450" dirty="0"/>
          </a:p>
        </p:txBody>
      </p:sp>
      <p:sp>
        <p:nvSpPr>
          <p:cNvPr id="8" name="Shape 5"/>
          <p:cNvSpPr/>
          <p:nvPr/>
        </p:nvSpPr>
        <p:spPr>
          <a:xfrm>
            <a:off x="868680" y="2834640"/>
            <a:ext cx="2441448" cy="2103120"/>
          </a:xfrm>
          <a:prstGeom prst="roundRect">
            <a:avLst>
              <a:gd name="adj" fmla="val 2174"/>
            </a:avLst>
          </a:prstGeom>
          <a:solidFill>
            <a:srgbClr val="F0E8DA"/>
          </a:solidFill>
          <a:ln w="12700">
            <a:solidFill>
              <a:srgbClr val="F0E8DA"/>
            </a:solidFill>
            <a:prstDash val="solid"/>
          </a:ln>
        </p:spPr>
      </p:sp>
      <p:sp>
        <p:nvSpPr>
          <p:cNvPr id="9" name="Text 6"/>
          <p:cNvSpPr/>
          <p:nvPr/>
        </p:nvSpPr>
        <p:spPr>
          <a:xfrm>
            <a:off x="1143000" y="3072384"/>
            <a:ext cx="1892808" cy="457200"/>
          </a:xfrm>
          <a:prstGeom prst="rect">
            <a:avLst/>
          </a:prstGeom>
          <a:noFill/>
          <a:ln/>
        </p:spPr>
        <p:txBody>
          <a:bodyPr wrap="square" rtlCol="0" anchor="ctr"/>
          <a:lstStyle/>
          <a:p>
            <a:pPr indent="0" marL="0">
              <a:buNone/>
            </a:pPr>
            <a:r>
              <a:rPr lang="en-US" sz="1650" dirty="0">
                <a:solidFill>
                  <a:srgbClr val="1C1E1C"/>
                </a:solidFill>
                <a:latin typeface="Georgia" pitchFamily="34" charset="0"/>
                <a:ea typeface="Georgia" pitchFamily="34" charset="-122"/>
                <a:cs typeface="Georgia" pitchFamily="34" charset="-120"/>
              </a:rPr>
              <a:t>Disk fills up</a:t>
            </a:r>
            <a:endParaRPr lang="en-US" sz="1650" dirty="0"/>
          </a:p>
        </p:txBody>
      </p:sp>
      <p:sp>
        <p:nvSpPr>
          <p:cNvPr id="10" name="Text 7"/>
          <p:cNvSpPr/>
          <p:nvPr/>
        </p:nvSpPr>
        <p:spPr>
          <a:xfrm>
            <a:off x="1143000" y="3621024"/>
            <a:ext cx="1892808" cy="1143000"/>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Storage is fixed. Photos pile up until uploads start failing.</a:t>
            </a:r>
            <a:endParaRPr lang="en-US" sz="1250" dirty="0"/>
          </a:p>
        </p:txBody>
      </p:sp>
      <p:sp>
        <p:nvSpPr>
          <p:cNvPr id="11" name="Shape 8"/>
          <p:cNvSpPr/>
          <p:nvPr/>
        </p:nvSpPr>
        <p:spPr>
          <a:xfrm>
            <a:off x="3539642" y="2834640"/>
            <a:ext cx="2441448" cy="2103120"/>
          </a:xfrm>
          <a:prstGeom prst="roundRect">
            <a:avLst>
              <a:gd name="adj" fmla="val 2174"/>
            </a:avLst>
          </a:prstGeom>
          <a:solidFill>
            <a:srgbClr val="E3EAEF"/>
          </a:solidFill>
          <a:ln w="12700">
            <a:solidFill>
              <a:srgbClr val="E3EAEF"/>
            </a:solidFill>
            <a:prstDash val="solid"/>
          </a:ln>
        </p:spPr>
      </p:sp>
      <p:sp>
        <p:nvSpPr>
          <p:cNvPr id="12" name="Text 9"/>
          <p:cNvSpPr/>
          <p:nvPr/>
        </p:nvSpPr>
        <p:spPr>
          <a:xfrm>
            <a:off x="3813962" y="3072384"/>
            <a:ext cx="1892808" cy="457200"/>
          </a:xfrm>
          <a:prstGeom prst="rect">
            <a:avLst/>
          </a:prstGeom>
          <a:noFill/>
          <a:ln/>
        </p:spPr>
        <p:txBody>
          <a:bodyPr wrap="square" rtlCol="0" anchor="ctr"/>
          <a:lstStyle/>
          <a:p>
            <a:pPr indent="0" marL="0">
              <a:buNone/>
            </a:pPr>
            <a:r>
              <a:rPr lang="en-US" sz="1650" dirty="0">
                <a:solidFill>
                  <a:srgbClr val="1C1E1C"/>
                </a:solidFill>
                <a:latin typeface="Georgia" pitchFamily="34" charset="0"/>
                <a:ea typeface="Georgia" pitchFamily="34" charset="-122"/>
                <a:cs typeface="Georgia" pitchFamily="34" charset="-120"/>
              </a:rPr>
              <a:t>One copy only</a:t>
            </a:r>
            <a:endParaRPr lang="en-US" sz="1650" dirty="0"/>
          </a:p>
        </p:txBody>
      </p:sp>
      <p:sp>
        <p:nvSpPr>
          <p:cNvPr id="13" name="Text 10"/>
          <p:cNvSpPr/>
          <p:nvPr/>
        </p:nvSpPr>
        <p:spPr>
          <a:xfrm>
            <a:off x="3813962" y="3621024"/>
            <a:ext cx="1892808" cy="1143000"/>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If the machine dies, every uploaded image dies with it.</a:t>
            </a:r>
            <a:endParaRPr lang="en-US" sz="1250" dirty="0"/>
          </a:p>
        </p:txBody>
      </p:sp>
      <p:sp>
        <p:nvSpPr>
          <p:cNvPr id="14" name="Shape 11"/>
          <p:cNvSpPr/>
          <p:nvPr/>
        </p:nvSpPr>
        <p:spPr>
          <a:xfrm>
            <a:off x="6210605" y="2834640"/>
            <a:ext cx="2441448" cy="2103120"/>
          </a:xfrm>
          <a:prstGeom prst="roundRect">
            <a:avLst>
              <a:gd name="adj" fmla="val 2174"/>
            </a:avLst>
          </a:prstGeom>
          <a:solidFill>
            <a:srgbClr val="E7EDE6"/>
          </a:solidFill>
          <a:ln w="12700">
            <a:solidFill>
              <a:srgbClr val="E7EDE6"/>
            </a:solidFill>
            <a:prstDash val="solid"/>
          </a:ln>
        </p:spPr>
      </p:sp>
      <p:sp>
        <p:nvSpPr>
          <p:cNvPr id="15" name="Text 12"/>
          <p:cNvSpPr/>
          <p:nvPr/>
        </p:nvSpPr>
        <p:spPr>
          <a:xfrm>
            <a:off x="6484925" y="3072384"/>
            <a:ext cx="1892808" cy="457200"/>
          </a:xfrm>
          <a:prstGeom prst="rect">
            <a:avLst/>
          </a:prstGeom>
          <a:noFill/>
          <a:ln/>
        </p:spPr>
        <p:txBody>
          <a:bodyPr wrap="square" rtlCol="0" anchor="ctr"/>
          <a:lstStyle/>
          <a:p>
            <a:pPr indent="0" marL="0">
              <a:buNone/>
            </a:pPr>
            <a:r>
              <a:rPr lang="en-US" sz="1650" dirty="0">
                <a:solidFill>
                  <a:srgbClr val="1C1E1C"/>
                </a:solidFill>
                <a:latin typeface="Georgia" pitchFamily="34" charset="0"/>
                <a:ea typeface="Georgia" pitchFamily="34" charset="-122"/>
                <a:cs typeface="Georgia" pitchFamily="34" charset="-120"/>
              </a:rPr>
              <a:t>Cannot scale out</a:t>
            </a:r>
            <a:endParaRPr lang="en-US" sz="1650" dirty="0"/>
          </a:p>
        </p:txBody>
      </p:sp>
      <p:sp>
        <p:nvSpPr>
          <p:cNvPr id="16" name="Text 13"/>
          <p:cNvSpPr/>
          <p:nvPr/>
        </p:nvSpPr>
        <p:spPr>
          <a:xfrm>
            <a:off x="6484925" y="3621024"/>
            <a:ext cx="1892808" cy="1143000"/>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A second server holds different files, so users see different galleries.</a:t>
            </a:r>
            <a:endParaRPr lang="en-US" sz="1250" dirty="0"/>
          </a:p>
        </p:txBody>
      </p:sp>
      <p:sp>
        <p:nvSpPr>
          <p:cNvPr id="17" name="Shape 14"/>
          <p:cNvSpPr/>
          <p:nvPr/>
        </p:nvSpPr>
        <p:spPr>
          <a:xfrm>
            <a:off x="8881567" y="2834640"/>
            <a:ext cx="2441448" cy="2103120"/>
          </a:xfrm>
          <a:prstGeom prst="roundRect">
            <a:avLst>
              <a:gd name="adj" fmla="val 2174"/>
            </a:avLst>
          </a:prstGeom>
          <a:solidFill>
            <a:srgbClr val="F1E4E1"/>
          </a:solidFill>
          <a:ln w="12700">
            <a:solidFill>
              <a:srgbClr val="F1E4E1"/>
            </a:solidFill>
            <a:prstDash val="solid"/>
          </a:ln>
        </p:spPr>
      </p:sp>
      <p:sp>
        <p:nvSpPr>
          <p:cNvPr id="18" name="Text 15"/>
          <p:cNvSpPr/>
          <p:nvPr/>
        </p:nvSpPr>
        <p:spPr>
          <a:xfrm>
            <a:off x="9155887" y="3072384"/>
            <a:ext cx="1892808" cy="457200"/>
          </a:xfrm>
          <a:prstGeom prst="rect">
            <a:avLst/>
          </a:prstGeom>
          <a:noFill/>
          <a:ln/>
        </p:spPr>
        <p:txBody>
          <a:bodyPr wrap="square" rtlCol="0" anchor="ctr"/>
          <a:lstStyle/>
          <a:p>
            <a:pPr indent="0" marL="0">
              <a:buNone/>
            </a:pPr>
            <a:r>
              <a:rPr lang="en-US" sz="1650" dirty="0">
                <a:solidFill>
                  <a:srgbClr val="1C1E1C"/>
                </a:solidFill>
                <a:latin typeface="Georgia" pitchFamily="34" charset="0"/>
                <a:ea typeface="Georgia" pitchFamily="34" charset="-122"/>
                <a:cs typeface="Georgia" pitchFamily="34" charset="-120"/>
              </a:rPr>
              <a:t>Manual backups</a:t>
            </a:r>
            <a:endParaRPr lang="en-US" sz="1650" dirty="0"/>
          </a:p>
        </p:txBody>
      </p:sp>
      <p:sp>
        <p:nvSpPr>
          <p:cNvPr id="19" name="Text 16"/>
          <p:cNvSpPr/>
          <p:nvPr/>
        </p:nvSpPr>
        <p:spPr>
          <a:xfrm>
            <a:off x="9155887" y="3621024"/>
            <a:ext cx="1892808" cy="1143000"/>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Someone has to remember to copy the folder somewhere safe.</a:t>
            </a:r>
            <a:endParaRPr lang="en-US" sz="1250" dirty="0"/>
          </a:p>
        </p:txBody>
      </p:sp>
      <p:sp>
        <p:nvSpPr>
          <p:cNvPr id="20" name="Text 17"/>
          <p:cNvSpPr/>
          <p:nvPr/>
        </p:nvSpPr>
        <p:spPr>
          <a:xfrm>
            <a:off x="868680" y="5486400"/>
            <a:ext cx="10454335" cy="365760"/>
          </a:xfrm>
          <a:prstGeom prst="rect">
            <a:avLst/>
          </a:prstGeom>
          <a:noFill/>
          <a:ln/>
        </p:spPr>
        <p:txBody>
          <a:bodyPr wrap="square" rtlCol="0" anchor="ctr"/>
          <a:lstStyle/>
          <a:p>
            <a:pPr indent="0" marL="0">
              <a:buNone/>
            </a:pPr>
            <a:r>
              <a:rPr lang="en-US" sz="1500" i="1" dirty="0">
                <a:solidFill>
                  <a:srgbClr val="2F5D62"/>
                </a:solidFill>
                <a:latin typeface="Georgia" pitchFamily="34" charset="0"/>
                <a:ea typeface="Georgia" pitchFamily="34" charset="-122"/>
                <a:cs typeface="Georgia" pitchFamily="34" charset="-120"/>
              </a:rPr>
              <a:t>The cloud answer is a split: the application stays on EC2, the files move to S3.</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3" name="Text 0"/>
          <p:cNvSpPr/>
          <p:nvPr/>
        </p:nvSpPr>
        <p:spPr>
          <a:xfrm>
            <a:off x="868680" y="475488"/>
            <a:ext cx="7315200" cy="256032"/>
          </a:xfrm>
          <a:prstGeom prst="rect">
            <a:avLst/>
          </a:prstGeom>
          <a:noFill/>
          <a:ln/>
        </p:spPr>
        <p:txBody>
          <a:bodyPr wrap="square" rtlCol="0" anchor="ctr"/>
          <a:lstStyle/>
          <a:p>
            <a:pPr indent="0" marL="0">
              <a:buNone/>
            </a:pPr>
            <a:r>
              <a:rPr lang="en-US" sz="1050" b="1" spc="240" kern="0" dirty="0">
                <a:solidFill>
                  <a:srgbClr val="2F5D62"/>
                </a:solidFill>
                <a:latin typeface="Calibri" pitchFamily="34" charset="0"/>
                <a:ea typeface="Calibri" pitchFamily="34" charset="-122"/>
                <a:cs typeface="Calibri" pitchFamily="34" charset="-120"/>
              </a:rPr>
              <a:t>OBJECTIVE</a:t>
            </a:r>
            <a:endParaRPr lang="en-US" sz="1050" dirty="0"/>
          </a:p>
        </p:txBody>
      </p:sp>
      <p:sp>
        <p:nvSpPr>
          <p:cNvPr id="4" name="Text 1"/>
          <p:cNvSpPr/>
          <p:nvPr/>
        </p:nvSpPr>
        <p:spPr>
          <a:xfrm>
            <a:off x="868680" y="768096"/>
            <a:ext cx="9539935" cy="621792"/>
          </a:xfrm>
          <a:prstGeom prst="rect">
            <a:avLst/>
          </a:prstGeom>
          <a:noFill/>
          <a:ln/>
        </p:spPr>
        <p:txBody>
          <a:bodyPr wrap="square" rtlCol="0" anchor="ctr"/>
          <a:lstStyle/>
          <a:p>
            <a:pPr indent="0" marL="0">
              <a:buNone/>
            </a:pPr>
            <a:r>
              <a:rPr lang="en-US" sz="3000" dirty="0">
                <a:solidFill>
                  <a:srgbClr val="1C1E1C"/>
                </a:solidFill>
                <a:latin typeface="Georgia" pitchFamily="34" charset="0"/>
                <a:ea typeface="Georgia" pitchFamily="34" charset="-122"/>
                <a:cs typeface="Georgia" pitchFamily="34" charset="-120"/>
              </a:rPr>
              <a:t>What the system does</a:t>
            </a:r>
            <a:endParaRPr lang="en-US" sz="3000" dirty="0"/>
          </a:p>
        </p:txBody>
      </p:sp>
      <p:sp>
        <p:nvSpPr>
          <p:cNvPr id="5" name="Text 2"/>
          <p:cNvSpPr/>
          <p:nvPr/>
        </p:nvSpPr>
        <p:spPr>
          <a:xfrm>
            <a:off x="10500055" y="868680"/>
            <a:ext cx="822960" cy="365760"/>
          </a:xfrm>
          <a:prstGeom prst="rect">
            <a:avLst/>
          </a:prstGeom>
          <a:noFill/>
          <a:ln/>
        </p:spPr>
        <p:txBody>
          <a:bodyPr wrap="square" rtlCol="0" anchor="ctr"/>
          <a:lstStyle/>
          <a:p>
            <a:pPr algn="r" indent="0" marL="0">
              <a:buNone/>
            </a:pPr>
            <a:r>
              <a:rPr lang="en-US" sz="1100" spc="100" kern="0" dirty="0">
                <a:solidFill>
                  <a:srgbClr val="6E756F"/>
                </a:solidFill>
                <a:latin typeface="Calibri" pitchFamily="34" charset="0"/>
                <a:ea typeface="Calibri" pitchFamily="34" charset="-122"/>
                <a:cs typeface="Calibri" pitchFamily="34" charset="-120"/>
              </a:rPr>
              <a:t>03</a:t>
            </a:r>
            <a:endParaRPr lang="en-US" sz="1100" dirty="0"/>
          </a:p>
        </p:txBody>
      </p:sp>
      <p:sp>
        <p:nvSpPr>
          <p:cNvPr id="6" name="Shape 3"/>
          <p:cNvSpPr/>
          <p:nvPr/>
        </p:nvSpPr>
        <p:spPr>
          <a:xfrm>
            <a:off x="868680" y="1572768"/>
            <a:ext cx="10454335" cy="0"/>
          </a:xfrm>
          <a:prstGeom prst="line">
            <a:avLst/>
          </a:prstGeom>
          <a:noFill/>
          <a:ln w="9525">
            <a:solidFill>
              <a:srgbClr val="DFDAD0"/>
            </a:solidFill>
            <a:prstDash val="solid"/>
          </a:ln>
        </p:spPr>
      </p:sp>
      <p:sp>
        <p:nvSpPr>
          <p:cNvPr id="7" name="Text 4"/>
          <p:cNvSpPr/>
          <p:nvPr/>
        </p:nvSpPr>
        <p:spPr>
          <a:xfrm>
            <a:off x="868680" y="1874520"/>
            <a:ext cx="2743200" cy="365760"/>
          </a:xfrm>
          <a:prstGeom prst="rect">
            <a:avLst/>
          </a:prstGeom>
          <a:noFill/>
          <a:ln/>
        </p:spPr>
        <p:txBody>
          <a:bodyPr wrap="square" rtlCol="0" anchor="ctr"/>
          <a:lstStyle/>
          <a:p>
            <a:pPr indent="0" marL="0">
              <a:buNone/>
            </a:pPr>
            <a:r>
              <a:rPr lang="en-US" sz="1800" dirty="0">
                <a:solidFill>
                  <a:srgbClr val="1C1E1C"/>
                </a:solidFill>
                <a:latin typeface="Georgia" pitchFamily="34" charset="0"/>
                <a:ea typeface="Georgia" pitchFamily="34" charset="-122"/>
                <a:cs typeface="Georgia" pitchFamily="34" charset="-120"/>
              </a:rPr>
              <a:t>Scope</a:t>
            </a:r>
            <a:endParaRPr lang="en-US" sz="1800" dirty="0"/>
          </a:p>
        </p:txBody>
      </p:sp>
      <p:sp>
        <p:nvSpPr>
          <p:cNvPr id="8" name="Text 5"/>
          <p:cNvSpPr/>
          <p:nvPr/>
        </p:nvSpPr>
        <p:spPr>
          <a:xfrm>
            <a:off x="868680" y="2377440"/>
            <a:ext cx="4937760" cy="3108960"/>
          </a:xfrm>
          <a:prstGeom prst="rect">
            <a:avLst/>
          </a:prstGeom>
          <a:noFill/>
          <a:ln/>
        </p:spPr>
        <p:txBody>
          <a:bodyPr wrap="square" rtlCol="0" anchor="t"/>
          <a:lstStyle/>
          <a:p>
            <a:pPr marL="228600" indent="-228600">
              <a:lnSpc>
                <a:spcPts val="3000"/>
              </a:lnSpc>
              <a:buSzPct val="100000"/>
              <a:buChar char="•"/>
            </a:pPr>
            <a:r>
              <a:rPr lang="en-US" sz="1400" dirty="0">
                <a:solidFill>
                  <a:srgbClr val="4D5551"/>
                </a:solidFill>
                <a:latin typeface="Calibri" pitchFamily="34" charset="0"/>
                <a:ea typeface="Calibri" pitchFamily="34" charset="-122"/>
                <a:cs typeface="Calibri" pitchFamily="34" charset="-120"/>
              </a:rPr>
              <a:t>Upload an image from any browser</a:t>
            </a:r>
            <a:endParaRPr lang="en-US" sz="1400" dirty="0"/>
          </a:p>
          <a:p>
            <a:pPr marL="228600" indent="-228600">
              <a:lnSpc>
                <a:spcPts val="3000"/>
              </a:lnSpc>
              <a:buSzPct val="100000"/>
              <a:buChar char="•"/>
            </a:pPr>
            <a:r>
              <a:rPr lang="en-US" sz="1400" dirty="0">
                <a:solidFill>
                  <a:srgbClr val="4D5551"/>
                </a:solidFill>
                <a:latin typeface="Calibri" pitchFamily="34" charset="0"/>
                <a:ea typeface="Calibri" pitchFamily="34" charset="-122"/>
                <a:cs typeface="Calibri" pitchFamily="34" charset="-120"/>
              </a:rPr>
              <a:t>Store it as an object in a private S3 bucket</a:t>
            </a:r>
            <a:endParaRPr lang="en-US" sz="1400" dirty="0"/>
          </a:p>
          <a:p>
            <a:pPr marL="228600" indent="-228600">
              <a:lnSpc>
                <a:spcPts val="3000"/>
              </a:lnSpc>
              <a:buSzPct val="100000"/>
              <a:buChar char="•"/>
            </a:pPr>
            <a:r>
              <a:rPr lang="en-US" sz="1400" dirty="0">
                <a:solidFill>
                  <a:srgbClr val="4D5551"/>
                </a:solidFill>
                <a:latin typeface="Calibri" pitchFamily="34" charset="0"/>
                <a:ea typeface="Calibri" pitchFamily="34" charset="-122"/>
                <a:cs typeface="Calibri" pitchFamily="34" charset="-120"/>
              </a:rPr>
              <a:t>List every stored image, newest first</a:t>
            </a:r>
            <a:endParaRPr lang="en-US" sz="1400" dirty="0"/>
          </a:p>
          <a:p>
            <a:pPr marL="228600" indent="-228600">
              <a:lnSpc>
                <a:spcPts val="3000"/>
              </a:lnSpc>
              <a:buSzPct val="100000"/>
              <a:buChar char="•"/>
            </a:pPr>
            <a:r>
              <a:rPr lang="en-US" sz="1400" dirty="0">
                <a:solidFill>
                  <a:srgbClr val="4D5551"/>
                </a:solidFill>
                <a:latin typeface="Calibri" pitchFamily="34" charset="0"/>
                <a:ea typeface="Calibri" pitchFamily="34" charset="-122"/>
                <a:cs typeface="Calibri" pitchFamily="34" charset="-120"/>
              </a:rPr>
              <a:t>View the full image through a signed link</a:t>
            </a:r>
            <a:endParaRPr lang="en-US" sz="1400" dirty="0"/>
          </a:p>
          <a:p>
            <a:pPr marL="228600" indent="-228600">
              <a:lnSpc>
                <a:spcPts val="3000"/>
              </a:lnSpc>
              <a:buSzPct val="100000"/>
              <a:buChar char="•"/>
            </a:pPr>
            <a:r>
              <a:rPr lang="en-US" sz="1400" dirty="0">
                <a:solidFill>
                  <a:srgbClr val="4D5551"/>
                </a:solidFill>
                <a:latin typeface="Calibri" pitchFamily="34" charset="0"/>
                <a:ea typeface="Calibri" pitchFamily="34" charset="-122"/>
                <a:cs typeface="Calibri" pitchFamily="34" charset="-120"/>
              </a:rPr>
              <a:t>Delete an image from the bucket</a:t>
            </a:r>
            <a:endParaRPr lang="en-US" sz="1400" dirty="0"/>
          </a:p>
          <a:p>
            <a:pPr marL="228600" indent="-228600">
              <a:lnSpc>
                <a:spcPts val="3000"/>
              </a:lnSpc>
              <a:buSzPct val="100000"/>
              <a:buChar char="•"/>
            </a:pPr>
            <a:r>
              <a:rPr lang="en-US" sz="1400" dirty="0">
                <a:solidFill>
                  <a:srgbClr val="4D5551"/>
                </a:solidFill>
                <a:latin typeface="Calibri" pitchFamily="34" charset="0"/>
                <a:ea typeface="Calibri" pitchFamily="34" charset="-122"/>
                <a:cs typeface="Calibri" pitchFamily="34" charset="-120"/>
              </a:rPr>
              <a:t>Reject non-image files and anything over 10 MB</a:t>
            </a:r>
            <a:endParaRPr lang="en-US" sz="1400" dirty="0"/>
          </a:p>
        </p:txBody>
      </p:sp>
      <p:sp>
        <p:nvSpPr>
          <p:cNvPr id="9" name="Text 6"/>
          <p:cNvSpPr/>
          <p:nvPr/>
        </p:nvSpPr>
        <p:spPr>
          <a:xfrm>
            <a:off x="6492240" y="1965960"/>
            <a:ext cx="1097280" cy="777240"/>
          </a:xfrm>
          <a:prstGeom prst="rect">
            <a:avLst/>
          </a:prstGeom>
          <a:noFill/>
          <a:ln/>
        </p:spPr>
        <p:txBody>
          <a:bodyPr wrap="square" rtlCol="0" anchor="ctr"/>
          <a:lstStyle/>
          <a:p>
            <a:pPr algn="r" indent="0" marL="0">
              <a:buNone/>
            </a:pPr>
            <a:r>
              <a:rPr lang="en-US" sz="4000" dirty="0">
                <a:solidFill>
                  <a:srgbClr val="2F5D62"/>
                </a:solidFill>
                <a:latin typeface="Georgia" pitchFamily="34" charset="0"/>
                <a:ea typeface="Georgia" pitchFamily="34" charset="-122"/>
                <a:cs typeface="Georgia" pitchFamily="34" charset="-120"/>
              </a:rPr>
              <a:t>2</a:t>
            </a:r>
            <a:endParaRPr lang="en-US" sz="4000" dirty="0"/>
          </a:p>
        </p:txBody>
      </p:sp>
      <p:sp>
        <p:nvSpPr>
          <p:cNvPr id="10" name="Text 7"/>
          <p:cNvSpPr/>
          <p:nvPr/>
        </p:nvSpPr>
        <p:spPr>
          <a:xfrm>
            <a:off x="7818120" y="2039112"/>
            <a:ext cx="3474720" cy="365760"/>
          </a:xfrm>
          <a:prstGeom prst="rect">
            <a:avLst/>
          </a:prstGeom>
          <a:noFill/>
          <a:ln/>
        </p:spPr>
        <p:txBody>
          <a:bodyPr wrap="square" rtlCol="0" anchor="ctr"/>
          <a:lstStyle/>
          <a:p>
            <a:pPr indent="0" marL="0">
              <a:buNone/>
            </a:pPr>
            <a:r>
              <a:rPr lang="en-US" sz="1600" dirty="0">
                <a:solidFill>
                  <a:srgbClr val="1C1E1C"/>
                </a:solidFill>
                <a:latin typeface="Georgia" pitchFamily="34" charset="0"/>
                <a:ea typeface="Georgia" pitchFamily="34" charset="-122"/>
                <a:cs typeface="Georgia" pitchFamily="34" charset="-120"/>
              </a:rPr>
              <a:t>AWS services at the core</a:t>
            </a:r>
            <a:endParaRPr lang="en-US" sz="1600" dirty="0"/>
          </a:p>
        </p:txBody>
      </p:sp>
      <p:sp>
        <p:nvSpPr>
          <p:cNvPr id="11" name="Text 8"/>
          <p:cNvSpPr/>
          <p:nvPr/>
        </p:nvSpPr>
        <p:spPr>
          <a:xfrm>
            <a:off x="7818120" y="2423160"/>
            <a:ext cx="3474720" cy="384048"/>
          </a:xfrm>
          <a:prstGeom prst="rect">
            <a:avLst/>
          </a:prstGeom>
          <a:noFill/>
          <a:ln/>
        </p:spPr>
        <p:txBody>
          <a:bodyPr wrap="square" rtlCol="0" anchor="ctr"/>
          <a:lstStyle/>
          <a:p>
            <a:pPr indent="0" marL="0">
              <a:buNone/>
            </a:pPr>
            <a:r>
              <a:rPr lang="en-US" sz="1250" dirty="0">
                <a:solidFill>
                  <a:srgbClr val="4D5551"/>
                </a:solidFill>
                <a:latin typeface="Calibri" pitchFamily="34" charset="0"/>
                <a:ea typeface="Calibri" pitchFamily="34" charset="-122"/>
                <a:cs typeface="Calibri" pitchFamily="34" charset="-120"/>
              </a:rPr>
              <a:t>EC2 for compute, S3 for storage</a:t>
            </a:r>
            <a:endParaRPr lang="en-US" sz="1250" dirty="0"/>
          </a:p>
        </p:txBody>
      </p:sp>
      <p:sp>
        <p:nvSpPr>
          <p:cNvPr id="12" name="Shape 9"/>
          <p:cNvSpPr/>
          <p:nvPr/>
        </p:nvSpPr>
        <p:spPr>
          <a:xfrm>
            <a:off x="6492240" y="3044952"/>
            <a:ext cx="4800600" cy="0"/>
          </a:xfrm>
          <a:prstGeom prst="line">
            <a:avLst/>
          </a:prstGeom>
          <a:noFill/>
          <a:ln w="9525">
            <a:solidFill>
              <a:srgbClr val="DFDAD0"/>
            </a:solidFill>
            <a:prstDash val="solid"/>
          </a:ln>
        </p:spPr>
      </p:sp>
      <p:sp>
        <p:nvSpPr>
          <p:cNvPr id="13" name="Text 10"/>
          <p:cNvSpPr/>
          <p:nvPr/>
        </p:nvSpPr>
        <p:spPr>
          <a:xfrm>
            <a:off x="6492240" y="3291840"/>
            <a:ext cx="1097280" cy="777240"/>
          </a:xfrm>
          <a:prstGeom prst="rect">
            <a:avLst/>
          </a:prstGeom>
          <a:noFill/>
          <a:ln/>
        </p:spPr>
        <p:txBody>
          <a:bodyPr wrap="square" rtlCol="0" anchor="ctr"/>
          <a:lstStyle/>
          <a:p>
            <a:pPr algn="r" indent="0" marL="0">
              <a:buNone/>
            </a:pPr>
            <a:r>
              <a:rPr lang="en-US" sz="4000" dirty="0">
                <a:solidFill>
                  <a:srgbClr val="2F5D62"/>
                </a:solidFill>
                <a:latin typeface="Georgia" pitchFamily="34" charset="0"/>
                <a:ea typeface="Georgia" pitchFamily="34" charset="-122"/>
                <a:cs typeface="Georgia" pitchFamily="34" charset="-120"/>
              </a:rPr>
              <a:t>0</a:t>
            </a:r>
            <a:endParaRPr lang="en-US" sz="4000" dirty="0"/>
          </a:p>
        </p:txBody>
      </p:sp>
      <p:sp>
        <p:nvSpPr>
          <p:cNvPr id="14" name="Text 11"/>
          <p:cNvSpPr/>
          <p:nvPr/>
        </p:nvSpPr>
        <p:spPr>
          <a:xfrm>
            <a:off x="7818120" y="3364992"/>
            <a:ext cx="3474720" cy="365760"/>
          </a:xfrm>
          <a:prstGeom prst="rect">
            <a:avLst/>
          </a:prstGeom>
          <a:noFill/>
          <a:ln/>
        </p:spPr>
        <p:txBody>
          <a:bodyPr wrap="square" rtlCol="0" anchor="ctr"/>
          <a:lstStyle/>
          <a:p>
            <a:pPr indent="0" marL="0">
              <a:buNone/>
            </a:pPr>
            <a:r>
              <a:rPr lang="en-US" sz="1600" dirty="0">
                <a:solidFill>
                  <a:srgbClr val="1C1E1C"/>
                </a:solidFill>
                <a:latin typeface="Georgia" pitchFamily="34" charset="0"/>
                <a:ea typeface="Georgia" pitchFamily="34" charset="-122"/>
                <a:cs typeface="Georgia" pitchFamily="34" charset="-120"/>
              </a:rPr>
              <a:t>files on the instance disk</a:t>
            </a:r>
            <a:endParaRPr lang="en-US" sz="1600" dirty="0"/>
          </a:p>
        </p:txBody>
      </p:sp>
      <p:sp>
        <p:nvSpPr>
          <p:cNvPr id="15" name="Text 12"/>
          <p:cNvSpPr/>
          <p:nvPr/>
        </p:nvSpPr>
        <p:spPr>
          <a:xfrm>
            <a:off x="7818120" y="3749040"/>
            <a:ext cx="3474720" cy="384048"/>
          </a:xfrm>
          <a:prstGeom prst="rect">
            <a:avLst/>
          </a:prstGeom>
          <a:noFill/>
          <a:ln/>
        </p:spPr>
        <p:txBody>
          <a:bodyPr wrap="square" rtlCol="0" anchor="ctr"/>
          <a:lstStyle/>
          <a:p>
            <a:pPr indent="0" marL="0">
              <a:buNone/>
            </a:pPr>
            <a:r>
              <a:rPr lang="en-US" sz="1250" dirty="0">
                <a:solidFill>
                  <a:srgbClr val="4D5551"/>
                </a:solidFill>
                <a:latin typeface="Calibri" pitchFamily="34" charset="0"/>
                <a:ea typeface="Calibri" pitchFamily="34" charset="-122"/>
                <a:cs typeface="Calibri" pitchFamily="34" charset="-120"/>
              </a:rPr>
              <a:t>the server stays disposable</a:t>
            </a:r>
            <a:endParaRPr lang="en-US" sz="1250" dirty="0"/>
          </a:p>
        </p:txBody>
      </p:sp>
      <p:sp>
        <p:nvSpPr>
          <p:cNvPr id="16" name="Shape 13"/>
          <p:cNvSpPr/>
          <p:nvPr/>
        </p:nvSpPr>
        <p:spPr>
          <a:xfrm>
            <a:off x="6492240" y="4370832"/>
            <a:ext cx="4800600" cy="0"/>
          </a:xfrm>
          <a:prstGeom prst="line">
            <a:avLst/>
          </a:prstGeom>
          <a:noFill/>
          <a:ln w="9525">
            <a:solidFill>
              <a:srgbClr val="DFDAD0"/>
            </a:solidFill>
            <a:prstDash val="solid"/>
          </a:ln>
        </p:spPr>
      </p:sp>
      <p:sp>
        <p:nvSpPr>
          <p:cNvPr id="17" name="Text 14"/>
          <p:cNvSpPr/>
          <p:nvPr/>
        </p:nvSpPr>
        <p:spPr>
          <a:xfrm>
            <a:off x="6492240" y="4617720"/>
            <a:ext cx="1097280" cy="777240"/>
          </a:xfrm>
          <a:prstGeom prst="rect">
            <a:avLst/>
          </a:prstGeom>
          <a:noFill/>
          <a:ln/>
        </p:spPr>
        <p:txBody>
          <a:bodyPr wrap="square" rtlCol="0" anchor="ctr"/>
          <a:lstStyle/>
          <a:p>
            <a:pPr algn="r" indent="0" marL="0">
              <a:buNone/>
            </a:pPr>
            <a:r>
              <a:rPr lang="en-US" sz="4000" dirty="0">
                <a:solidFill>
                  <a:srgbClr val="2F5D62"/>
                </a:solidFill>
                <a:latin typeface="Georgia" pitchFamily="34" charset="0"/>
                <a:ea typeface="Georgia" pitchFamily="34" charset="-122"/>
                <a:cs typeface="Georgia" pitchFamily="34" charset="-120"/>
              </a:rPr>
              <a:t>11</a:t>
            </a:r>
            <a:endParaRPr lang="en-US" sz="4000" dirty="0"/>
          </a:p>
        </p:txBody>
      </p:sp>
      <p:sp>
        <p:nvSpPr>
          <p:cNvPr id="18" name="Text 15"/>
          <p:cNvSpPr/>
          <p:nvPr/>
        </p:nvSpPr>
        <p:spPr>
          <a:xfrm>
            <a:off x="7818120" y="4690872"/>
            <a:ext cx="3474720" cy="365760"/>
          </a:xfrm>
          <a:prstGeom prst="rect">
            <a:avLst/>
          </a:prstGeom>
          <a:noFill/>
          <a:ln/>
        </p:spPr>
        <p:txBody>
          <a:bodyPr wrap="square" rtlCol="0" anchor="ctr"/>
          <a:lstStyle/>
          <a:p>
            <a:pPr indent="0" marL="0">
              <a:buNone/>
            </a:pPr>
            <a:r>
              <a:rPr lang="en-US" sz="1600" dirty="0">
                <a:solidFill>
                  <a:srgbClr val="1C1E1C"/>
                </a:solidFill>
                <a:latin typeface="Georgia" pitchFamily="34" charset="0"/>
                <a:ea typeface="Georgia" pitchFamily="34" charset="-122"/>
                <a:cs typeface="Georgia" pitchFamily="34" charset="-120"/>
              </a:rPr>
              <a:t>nines of durability</a:t>
            </a:r>
            <a:endParaRPr lang="en-US" sz="1600" dirty="0"/>
          </a:p>
        </p:txBody>
      </p:sp>
      <p:sp>
        <p:nvSpPr>
          <p:cNvPr id="19" name="Text 16"/>
          <p:cNvSpPr/>
          <p:nvPr/>
        </p:nvSpPr>
        <p:spPr>
          <a:xfrm>
            <a:off x="7818120" y="5074920"/>
            <a:ext cx="3474720" cy="384048"/>
          </a:xfrm>
          <a:prstGeom prst="rect">
            <a:avLst/>
          </a:prstGeom>
          <a:noFill/>
          <a:ln/>
        </p:spPr>
        <p:txBody>
          <a:bodyPr wrap="square" rtlCol="0" anchor="ctr"/>
          <a:lstStyle/>
          <a:p>
            <a:pPr indent="0" marL="0">
              <a:buNone/>
            </a:pPr>
            <a:r>
              <a:rPr lang="en-US" sz="1250" dirty="0">
                <a:solidFill>
                  <a:srgbClr val="4D5551"/>
                </a:solidFill>
                <a:latin typeface="Calibri" pitchFamily="34" charset="0"/>
                <a:ea typeface="Calibri" pitchFamily="34" charset="-122"/>
                <a:cs typeface="Calibri" pitchFamily="34" charset="-120"/>
              </a:rPr>
              <a:t>S3 is built never to lose an object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3" name="Text 0"/>
          <p:cNvSpPr/>
          <p:nvPr/>
        </p:nvSpPr>
        <p:spPr>
          <a:xfrm>
            <a:off x="868680" y="475488"/>
            <a:ext cx="7315200" cy="256032"/>
          </a:xfrm>
          <a:prstGeom prst="rect">
            <a:avLst/>
          </a:prstGeom>
          <a:noFill/>
          <a:ln/>
        </p:spPr>
        <p:txBody>
          <a:bodyPr wrap="square" rtlCol="0" anchor="ctr"/>
          <a:lstStyle/>
          <a:p>
            <a:pPr indent="0" marL="0">
              <a:buNone/>
            </a:pPr>
            <a:r>
              <a:rPr lang="en-US" sz="1050" b="1" spc="240" kern="0" dirty="0">
                <a:solidFill>
                  <a:srgbClr val="2F5D62"/>
                </a:solidFill>
                <a:latin typeface="Calibri" pitchFamily="34" charset="0"/>
                <a:ea typeface="Calibri" pitchFamily="34" charset="-122"/>
                <a:cs typeface="Calibri" pitchFamily="34" charset="-120"/>
              </a:rPr>
              <a:t>BUILDING BLOCKS</a:t>
            </a:r>
            <a:endParaRPr lang="en-US" sz="1050" dirty="0"/>
          </a:p>
        </p:txBody>
      </p:sp>
      <p:sp>
        <p:nvSpPr>
          <p:cNvPr id="4" name="Text 1"/>
          <p:cNvSpPr/>
          <p:nvPr/>
        </p:nvSpPr>
        <p:spPr>
          <a:xfrm>
            <a:off x="868680" y="768096"/>
            <a:ext cx="9539935" cy="621792"/>
          </a:xfrm>
          <a:prstGeom prst="rect">
            <a:avLst/>
          </a:prstGeom>
          <a:noFill/>
          <a:ln/>
        </p:spPr>
        <p:txBody>
          <a:bodyPr wrap="square" rtlCol="0" anchor="ctr"/>
          <a:lstStyle/>
          <a:p>
            <a:pPr indent="0" marL="0">
              <a:buNone/>
            </a:pPr>
            <a:r>
              <a:rPr lang="en-US" sz="3000" dirty="0">
                <a:solidFill>
                  <a:srgbClr val="1C1E1C"/>
                </a:solidFill>
                <a:latin typeface="Georgia" pitchFamily="34" charset="0"/>
                <a:ea typeface="Georgia" pitchFamily="34" charset="-122"/>
                <a:cs typeface="Georgia" pitchFamily="34" charset="-120"/>
              </a:rPr>
              <a:t>The AWS services used</a:t>
            </a:r>
            <a:endParaRPr lang="en-US" sz="3000" dirty="0"/>
          </a:p>
        </p:txBody>
      </p:sp>
      <p:sp>
        <p:nvSpPr>
          <p:cNvPr id="5" name="Text 2"/>
          <p:cNvSpPr/>
          <p:nvPr/>
        </p:nvSpPr>
        <p:spPr>
          <a:xfrm>
            <a:off x="10500055" y="868680"/>
            <a:ext cx="822960" cy="365760"/>
          </a:xfrm>
          <a:prstGeom prst="rect">
            <a:avLst/>
          </a:prstGeom>
          <a:noFill/>
          <a:ln/>
        </p:spPr>
        <p:txBody>
          <a:bodyPr wrap="square" rtlCol="0" anchor="ctr"/>
          <a:lstStyle/>
          <a:p>
            <a:pPr algn="r" indent="0" marL="0">
              <a:buNone/>
            </a:pPr>
            <a:r>
              <a:rPr lang="en-US" sz="1100" spc="100" kern="0" dirty="0">
                <a:solidFill>
                  <a:srgbClr val="6E756F"/>
                </a:solidFill>
                <a:latin typeface="Calibri" pitchFamily="34" charset="0"/>
                <a:ea typeface="Calibri" pitchFamily="34" charset="-122"/>
                <a:cs typeface="Calibri" pitchFamily="34" charset="-120"/>
              </a:rPr>
              <a:t>04</a:t>
            </a:r>
            <a:endParaRPr lang="en-US" sz="1100" dirty="0"/>
          </a:p>
        </p:txBody>
      </p:sp>
      <p:sp>
        <p:nvSpPr>
          <p:cNvPr id="6" name="Shape 3"/>
          <p:cNvSpPr/>
          <p:nvPr/>
        </p:nvSpPr>
        <p:spPr>
          <a:xfrm>
            <a:off x="868680" y="1572768"/>
            <a:ext cx="10454335" cy="0"/>
          </a:xfrm>
          <a:prstGeom prst="line">
            <a:avLst/>
          </a:prstGeom>
          <a:noFill/>
          <a:ln w="9525">
            <a:solidFill>
              <a:srgbClr val="DFDAD0"/>
            </a:solidFill>
            <a:prstDash val="solid"/>
          </a:ln>
        </p:spPr>
      </p:sp>
      <p:sp>
        <p:nvSpPr>
          <p:cNvPr id="7" name="Shape 4"/>
          <p:cNvSpPr/>
          <p:nvPr/>
        </p:nvSpPr>
        <p:spPr>
          <a:xfrm>
            <a:off x="868680" y="1920240"/>
            <a:ext cx="3291840" cy="3200400"/>
          </a:xfrm>
          <a:prstGeom prst="roundRect">
            <a:avLst>
              <a:gd name="adj" fmla="val 1429"/>
            </a:avLst>
          </a:prstGeom>
          <a:solidFill>
            <a:srgbClr val="F0E8DA"/>
          </a:solidFill>
          <a:ln w="12700">
            <a:solidFill>
              <a:srgbClr val="F0E8DA"/>
            </a:solidFill>
            <a:prstDash val="solid"/>
          </a:ln>
        </p:spPr>
      </p:sp>
      <p:sp>
        <p:nvSpPr>
          <p:cNvPr id="8" name="Text 5"/>
          <p:cNvSpPr/>
          <p:nvPr/>
        </p:nvSpPr>
        <p:spPr>
          <a:xfrm>
            <a:off x="1216152" y="2148840"/>
            <a:ext cx="2651760" cy="685800"/>
          </a:xfrm>
          <a:prstGeom prst="rect">
            <a:avLst/>
          </a:prstGeom>
          <a:noFill/>
          <a:ln/>
        </p:spPr>
        <p:txBody>
          <a:bodyPr wrap="square" rtlCol="0" anchor="ctr"/>
          <a:lstStyle/>
          <a:p>
            <a:pPr indent="0" marL="0">
              <a:buNone/>
            </a:pPr>
            <a:r>
              <a:rPr lang="en-US" sz="3000" dirty="0">
                <a:solidFill>
                  <a:srgbClr val="2F5D62"/>
                </a:solidFill>
                <a:latin typeface="Georgia" pitchFamily="34" charset="0"/>
                <a:ea typeface="Georgia" pitchFamily="34" charset="-122"/>
                <a:cs typeface="Georgia" pitchFamily="34" charset="-120"/>
              </a:rPr>
              <a:t>EC2</a:t>
            </a:r>
            <a:endParaRPr lang="en-US" sz="3000" dirty="0"/>
          </a:p>
        </p:txBody>
      </p:sp>
      <p:sp>
        <p:nvSpPr>
          <p:cNvPr id="9" name="Text 6"/>
          <p:cNvSpPr/>
          <p:nvPr/>
        </p:nvSpPr>
        <p:spPr>
          <a:xfrm>
            <a:off x="1216152" y="2926080"/>
            <a:ext cx="2651760" cy="640080"/>
          </a:xfrm>
          <a:prstGeom prst="rect">
            <a:avLst/>
          </a:prstGeom>
          <a:noFill/>
          <a:ln/>
        </p:spPr>
        <p:txBody>
          <a:bodyPr wrap="square" rtlCol="0" anchor="t"/>
          <a:lstStyle/>
          <a:p>
            <a:pPr indent="0" marL="0">
              <a:lnSpc>
                <a:spcPts val="2100"/>
              </a:lnSpc>
              <a:buNone/>
            </a:pPr>
            <a:r>
              <a:rPr lang="en-US" sz="1550" dirty="0">
                <a:solidFill>
                  <a:srgbClr val="1C1E1C"/>
                </a:solidFill>
                <a:latin typeface="Georgia" pitchFamily="34" charset="0"/>
                <a:ea typeface="Georgia" pitchFamily="34" charset="-122"/>
                <a:cs typeface="Georgia" pitchFamily="34" charset="-120"/>
              </a:rPr>
              <a:t>Elastic Compute Cloud</a:t>
            </a:r>
            <a:endParaRPr lang="en-US" sz="1550" dirty="0"/>
          </a:p>
        </p:txBody>
      </p:sp>
      <p:sp>
        <p:nvSpPr>
          <p:cNvPr id="10" name="Text 7"/>
          <p:cNvSpPr/>
          <p:nvPr/>
        </p:nvSpPr>
        <p:spPr>
          <a:xfrm>
            <a:off x="1216152" y="3657600"/>
            <a:ext cx="2651760" cy="1280160"/>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A t3.micro virtual machine running the Flask application on port 8080. Free Tier eligible.</a:t>
            </a:r>
            <a:endParaRPr lang="en-US" sz="1250" dirty="0"/>
          </a:p>
        </p:txBody>
      </p:sp>
      <p:sp>
        <p:nvSpPr>
          <p:cNvPr id="11" name="Shape 8"/>
          <p:cNvSpPr/>
          <p:nvPr/>
        </p:nvSpPr>
        <p:spPr>
          <a:xfrm>
            <a:off x="4453128" y="1920240"/>
            <a:ext cx="3291840" cy="3200400"/>
          </a:xfrm>
          <a:prstGeom prst="roundRect">
            <a:avLst>
              <a:gd name="adj" fmla="val 1429"/>
            </a:avLst>
          </a:prstGeom>
          <a:solidFill>
            <a:srgbClr val="E3EAEF"/>
          </a:solidFill>
          <a:ln w="12700">
            <a:solidFill>
              <a:srgbClr val="E3EAEF"/>
            </a:solidFill>
            <a:prstDash val="solid"/>
          </a:ln>
        </p:spPr>
      </p:sp>
      <p:sp>
        <p:nvSpPr>
          <p:cNvPr id="12" name="Text 9"/>
          <p:cNvSpPr/>
          <p:nvPr/>
        </p:nvSpPr>
        <p:spPr>
          <a:xfrm>
            <a:off x="4800600" y="2148840"/>
            <a:ext cx="2651760" cy="685800"/>
          </a:xfrm>
          <a:prstGeom prst="rect">
            <a:avLst/>
          </a:prstGeom>
          <a:noFill/>
          <a:ln/>
        </p:spPr>
        <p:txBody>
          <a:bodyPr wrap="square" rtlCol="0" anchor="ctr"/>
          <a:lstStyle/>
          <a:p>
            <a:pPr indent="0" marL="0">
              <a:buNone/>
            </a:pPr>
            <a:r>
              <a:rPr lang="en-US" sz="3000" dirty="0">
                <a:solidFill>
                  <a:srgbClr val="2F5D62"/>
                </a:solidFill>
                <a:latin typeface="Georgia" pitchFamily="34" charset="0"/>
                <a:ea typeface="Georgia" pitchFamily="34" charset="-122"/>
                <a:cs typeface="Georgia" pitchFamily="34" charset="-120"/>
              </a:rPr>
              <a:t>S3</a:t>
            </a:r>
            <a:endParaRPr lang="en-US" sz="3000" dirty="0"/>
          </a:p>
        </p:txBody>
      </p:sp>
      <p:sp>
        <p:nvSpPr>
          <p:cNvPr id="13" name="Text 10"/>
          <p:cNvSpPr/>
          <p:nvPr/>
        </p:nvSpPr>
        <p:spPr>
          <a:xfrm>
            <a:off x="4800600" y="2926080"/>
            <a:ext cx="2651760" cy="640080"/>
          </a:xfrm>
          <a:prstGeom prst="rect">
            <a:avLst/>
          </a:prstGeom>
          <a:noFill/>
          <a:ln/>
        </p:spPr>
        <p:txBody>
          <a:bodyPr wrap="square" rtlCol="0" anchor="t"/>
          <a:lstStyle/>
          <a:p>
            <a:pPr indent="0" marL="0">
              <a:lnSpc>
                <a:spcPts val="2100"/>
              </a:lnSpc>
              <a:buNone/>
            </a:pPr>
            <a:r>
              <a:rPr lang="en-US" sz="1550" dirty="0">
                <a:solidFill>
                  <a:srgbClr val="1C1E1C"/>
                </a:solidFill>
                <a:latin typeface="Georgia" pitchFamily="34" charset="0"/>
                <a:ea typeface="Georgia" pitchFamily="34" charset="-122"/>
                <a:cs typeface="Georgia" pitchFamily="34" charset="-120"/>
              </a:rPr>
              <a:t>Simple Storage Service</a:t>
            </a:r>
            <a:endParaRPr lang="en-US" sz="1550" dirty="0"/>
          </a:p>
        </p:txBody>
      </p:sp>
      <p:sp>
        <p:nvSpPr>
          <p:cNvPr id="14" name="Text 11"/>
          <p:cNvSpPr/>
          <p:nvPr/>
        </p:nvSpPr>
        <p:spPr>
          <a:xfrm>
            <a:off x="4800600" y="3657600"/>
            <a:ext cx="2651760" cy="1280160"/>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Object storage holding every uploaded image under the uploads prefix of one private bucket.</a:t>
            </a:r>
            <a:endParaRPr lang="en-US" sz="1250" dirty="0"/>
          </a:p>
        </p:txBody>
      </p:sp>
      <p:sp>
        <p:nvSpPr>
          <p:cNvPr id="15" name="Shape 12"/>
          <p:cNvSpPr/>
          <p:nvPr/>
        </p:nvSpPr>
        <p:spPr>
          <a:xfrm>
            <a:off x="8037576" y="1920240"/>
            <a:ext cx="3291840" cy="3200400"/>
          </a:xfrm>
          <a:prstGeom prst="roundRect">
            <a:avLst>
              <a:gd name="adj" fmla="val 1429"/>
            </a:avLst>
          </a:prstGeom>
          <a:solidFill>
            <a:srgbClr val="E7EDE6"/>
          </a:solidFill>
          <a:ln w="12700">
            <a:solidFill>
              <a:srgbClr val="E7EDE6"/>
            </a:solidFill>
            <a:prstDash val="solid"/>
          </a:ln>
        </p:spPr>
      </p:sp>
      <p:sp>
        <p:nvSpPr>
          <p:cNvPr id="16" name="Text 13"/>
          <p:cNvSpPr/>
          <p:nvPr/>
        </p:nvSpPr>
        <p:spPr>
          <a:xfrm>
            <a:off x="8385048" y="2148840"/>
            <a:ext cx="2651760" cy="685800"/>
          </a:xfrm>
          <a:prstGeom prst="rect">
            <a:avLst/>
          </a:prstGeom>
          <a:noFill/>
          <a:ln/>
        </p:spPr>
        <p:txBody>
          <a:bodyPr wrap="square" rtlCol="0" anchor="ctr"/>
          <a:lstStyle/>
          <a:p>
            <a:pPr indent="0" marL="0">
              <a:buNone/>
            </a:pPr>
            <a:r>
              <a:rPr lang="en-US" sz="3000" dirty="0">
                <a:solidFill>
                  <a:srgbClr val="2F5D62"/>
                </a:solidFill>
                <a:latin typeface="Georgia" pitchFamily="34" charset="0"/>
                <a:ea typeface="Georgia" pitchFamily="34" charset="-122"/>
                <a:cs typeface="Georgia" pitchFamily="34" charset="-120"/>
              </a:rPr>
              <a:t>IAM</a:t>
            </a:r>
            <a:endParaRPr lang="en-US" sz="3000" dirty="0"/>
          </a:p>
        </p:txBody>
      </p:sp>
      <p:sp>
        <p:nvSpPr>
          <p:cNvPr id="17" name="Text 14"/>
          <p:cNvSpPr/>
          <p:nvPr/>
        </p:nvSpPr>
        <p:spPr>
          <a:xfrm>
            <a:off x="8385048" y="2926080"/>
            <a:ext cx="2651760" cy="640080"/>
          </a:xfrm>
          <a:prstGeom prst="rect">
            <a:avLst/>
          </a:prstGeom>
          <a:noFill/>
          <a:ln/>
        </p:spPr>
        <p:txBody>
          <a:bodyPr wrap="square" rtlCol="0" anchor="t"/>
          <a:lstStyle/>
          <a:p>
            <a:pPr indent="0" marL="0">
              <a:lnSpc>
                <a:spcPts val="2100"/>
              </a:lnSpc>
              <a:buNone/>
            </a:pPr>
            <a:r>
              <a:rPr lang="en-US" sz="1550" dirty="0">
                <a:solidFill>
                  <a:srgbClr val="1C1E1C"/>
                </a:solidFill>
                <a:latin typeface="Georgia" pitchFamily="34" charset="0"/>
                <a:ea typeface="Georgia" pitchFamily="34" charset="-122"/>
                <a:cs typeface="Georgia" pitchFamily="34" charset="-120"/>
              </a:rPr>
              <a:t>Identity and Access Management</a:t>
            </a:r>
            <a:endParaRPr lang="en-US" sz="1550" dirty="0"/>
          </a:p>
        </p:txBody>
      </p:sp>
      <p:sp>
        <p:nvSpPr>
          <p:cNvPr id="18" name="Text 15"/>
          <p:cNvSpPr/>
          <p:nvPr/>
        </p:nvSpPr>
        <p:spPr>
          <a:xfrm>
            <a:off x="8385048" y="3657600"/>
            <a:ext cx="2651760" cy="1280160"/>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A role on the instance that hands the application temporary keys, so no password sits in the code.</a:t>
            </a:r>
            <a:endParaRPr lang="en-US" sz="1250" dirty="0"/>
          </a:p>
        </p:txBody>
      </p:sp>
      <p:sp>
        <p:nvSpPr>
          <p:cNvPr id="19" name="Text 16"/>
          <p:cNvSpPr/>
          <p:nvPr/>
        </p:nvSpPr>
        <p:spPr>
          <a:xfrm>
            <a:off x="868680" y="5486400"/>
            <a:ext cx="10454335" cy="457200"/>
          </a:xfrm>
          <a:prstGeom prst="rect">
            <a:avLst/>
          </a:prstGeom>
          <a:noFill/>
          <a:ln/>
        </p:spPr>
        <p:txBody>
          <a:bodyPr wrap="square" rtlCol="0" anchor="ctr"/>
          <a:lstStyle/>
          <a:p>
            <a:pPr indent="0" marL="0">
              <a:buNone/>
            </a:pPr>
            <a:r>
              <a:rPr lang="en-US" sz="1350" dirty="0">
                <a:solidFill>
                  <a:srgbClr val="6E756F"/>
                </a:solidFill>
                <a:latin typeface="Calibri" pitchFamily="34" charset="0"/>
                <a:ea typeface="Calibri" pitchFamily="34" charset="-122"/>
                <a:cs typeface="Calibri" pitchFamily="34" charset="-120"/>
              </a:rPr>
              <a:t>Deliberately small. No database, no load balancer, no Lambda: two services are enough to show the one idea that matters.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3" name="Text 0"/>
          <p:cNvSpPr/>
          <p:nvPr/>
        </p:nvSpPr>
        <p:spPr>
          <a:xfrm>
            <a:off x="868680" y="475488"/>
            <a:ext cx="7315200" cy="256032"/>
          </a:xfrm>
          <a:prstGeom prst="rect">
            <a:avLst/>
          </a:prstGeom>
          <a:noFill/>
          <a:ln/>
        </p:spPr>
        <p:txBody>
          <a:bodyPr wrap="square" rtlCol="0" anchor="ctr"/>
          <a:lstStyle/>
          <a:p>
            <a:pPr indent="0" marL="0">
              <a:buNone/>
            </a:pPr>
            <a:r>
              <a:rPr lang="en-US" sz="1050" b="1" spc="240" kern="0" dirty="0">
                <a:solidFill>
                  <a:srgbClr val="2F5D62"/>
                </a:solidFill>
                <a:latin typeface="Calibri" pitchFamily="34" charset="0"/>
                <a:ea typeface="Calibri" pitchFamily="34" charset="-122"/>
                <a:cs typeface="Calibri" pitchFamily="34" charset="-120"/>
              </a:rPr>
              <a:t>ARCHITECTURE</a:t>
            </a:r>
            <a:endParaRPr lang="en-US" sz="1050" dirty="0"/>
          </a:p>
        </p:txBody>
      </p:sp>
      <p:sp>
        <p:nvSpPr>
          <p:cNvPr id="4" name="Text 1"/>
          <p:cNvSpPr/>
          <p:nvPr/>
        </p:nvSpPr>
        <p:spPr>
          <a:xfrm>
            <a:off x="868680" y="768096"/>
            <a:ext cx="9539935" cy="621792"/>
          </a:xfrm>
          <a:prstGeom prst="rect">
            <a:avLst/>
          </a:prstGeom>
          <a:noFill/>
          <a:ln/>
        </p:spPr>
        <p:txBody>
          <a:bodyPr wrap="square" rtlCol="0" anchor="ctr"/>
          <a:lstStyle/>
          <a:p>
            <a:pPr indent="0" marL="0">
              <a:buNone/>
            </a:pPr>
            <a:r>
              <a:rPr lang="en-US" sz="3000" dirty="0">
                <a:solidFill>
                  <a:srgbClr val="1C1E1C"/>
                </a:solidFill>
                <a:latin typeface="Georgia" pitchFamily="34" charset="0"/>
                <a:ea typeface="Georgia" pitchFamily="34" charset="-122"/>
                <a:cs typeface="Georgia" pitchFamily="34" charset="-120"/>
              </a:rPr>
              <a:t>How the pieces fit together</a:t>
            </a:r>
            <a:endParaRPr lang="en-US" sz="3000" dirty="0"/>
          </a:p>
        </p:txBody>
      </p:sp>
      <p:sp>
        <p:nvSpPr>
          <p:cNvPr id="5" name="Text 2"/>
          <p:cNvSpPr/>
          <p:nvPr/>
        </p:nvSpPr>
        <p:spPr>
          <a:xfrm>
            <a:off x="10500055" y="868680"/>
            <a:ext cx="822960" cy="365760"/>
          </a:xfrm>
          <a:prstGeom prst="rect">
            <a:avLst/>
          </a:prstGeom>
          <a:noFill/>
          <a:ln/>
        </p:spPr>
        <p:txBody>
          <a:bodyPr wrap="square" rtlCol="0" anchor="ctr"/>
          <a:lstStyle/>
          <a:p>
            <a:pPr algn="r" indent="0" marL="0">
              <a:buNone/>
            </a:pPr>
            <a:r>
              <a:rPr lang="en-US" sz="1100" spc="100" kern="0" dirty="0">
                <a:solidFill>
                  <a:srgbClr val="6E756F"/>
                </a:solidFill>
                <a:latin typeface="Calibri" pitchFamily="34" charset="0"/>
                <a:ea typeface="Calibri" pitchFamily="34" charset="-122"/>
                <a:cs typeface="Calibri" pitchFamily="34" charset="-120"/>
              </a:rPr>
              <a:t>05</a:t>
            </a:r>
            <a:endParaRPr lang="en-US" sz="1100" dirty="0"/>
          </a:p>
        </p:txBody>
      </p:sp>
      <p:sp>
        <p:nvSpPr>
          <p:cNvPr id="6" name="Shape 3"/>
          <p:cNvSpPr/>
          <p:nvPr/>
        </p:nvSpPr>
        <p:spPr>
          <a:xfrm>
            <a:off x="868680" y="1572768"/>
            <a:ext cx="10454335" cy="0"/>
          </a:xfrm>
          <a:prstGeom prst="line">
            <a:avLst/>
          </a:prstGeom>
          <a:noFill/>
          <a:ln w="9525">
            <a:solidFill>
              <a:srgbClr val="DFDAD0"/>
            </a:solidFill>
            <a:prstDash val="solid"/>
          </a:ln>
        </p:spPr>
      </p:sp>
      <p:sp>
        <p:nvSpPr>
          <p:cNvPr id="7" name="Shape 4"/>
          <p:cNvSpPr/>
          <p:nvPr/>
        </p:nvSpPr>
        <p:spPr>
          <a:xfrm>
            <a:off x="868680" y="2011680"/>
            <a:ext cx="2194560" cy="1325880"/>
          </a:xfrm>
          <a:prstGeom prst="roundRect">
            <a:avLst>
              <a:gd name="adj" fmla="val 3448"/>
            </a:avLst>
          </a:prstGeom>
          <a:solidFill>
            <a:srgbClr val="E3EAEF"/>
          </a:solidFill>
          <a:ln w="12700">
            <a:solidFill>
              <a:srgbClr val="E3EAEF"/>
            </a:solidFill>
            <a:prstDash val="solid"/>
          </a:ln>
        </p:spPr>
      </p:sp>
      <p:sp>
        <p:nvSpPr>
          <p:cNvPr id="8" name="Text 5"/>
          <p:cNvSpPr/>
          <p:nvPr/>
        </p:nvSpPr>
        <p:spPr>
          <a:xfrm>
            <a:off x="868680" y="2194560"/>
            <a:ext cx="2194560" cy="384048"/>
          </a:xfrm>
          <a:prstGeom prst="rect">
            <a:avLst/>
          </a:prstGeom>
          <a:noFill/>
          <a:ln/>
        </p:spPr>
        <p:txBody>
          <a:bodyPr wrap="square" rtlCol="0" anchor="ctr"/>
          <a:lstStyle/>
          <a:p>
            <a:pPr algn="ctr" indent="0" marL="0">
              <a:buNone/>
            </a:pPr>
            <a:r>
              <a:rPr lang="en-US" sz="1550" dirty="0">
                <a:solidFill>
                  <a:srgbClr val="1C1E1C"/>
                </a:solidFill>
                <a:latin typeface="Georgia" pitchFamily="34" charset="0"/>
                <a:ea typeface="Georgia" pitchFamily="34" charset="-122"/>
                <a:cs typeface="Georgia" pitchFamily="34" charset="-120"/>
              </a:rPr>
              <a:t>User browser</a:t>
            </a:r>
            <a:endParaRPr lang="en-US" sz="1550" dirty="0"/>
          </a:p>
        </p:txBody>
      </p:sp>
      <p:sp>
        <p:nvSpPr>
          <p:cNvPr id="9" name="Text 6"/>
          <p:cNvSpPr/>
          <p:nvPr/>
        </p:nvSpPr>
        <p:spPr>
          <a:xfrm>
            <a:off x="868680" y="2633472"/>
            <a:ext cx="2194560" cy="347472"/>
          </a:xfrm>
          <a:prstGeom prst="rect">
            <a:avLst/>
          </a:prstGeom>
          <a:noFill/>
          <a:ln/>
        </p:spPr>
        <p:txBody>
          <a:bodyPr wrap="square" rtlCol="0" anchor="ctr"/>
          <a:lstStyle/>
          <a:p>
            <a:pPr algn="ctr" indent="0" marL="0">
              <a:buNone/>
            </a:pPr>
            <a:r>
              <a:rPr lang="en-US" sz="1150" dirty="0">
                <a:solidFill>
                  <a:srgbClr val="4D5551"/>
                </a:solidFill>
                <a:latin typeface="Calibri" pitchFamily="34" charset="0"/>
                <a:ea typeface="Calibri" pitchFamily="34" charset="-122"/>
                <a:cs typeface="Calibri" pitchFamily="34" charset="-120"/>
              </a:rPr>
              <a:t>uploads and views</a:t>
            </a:r>
            <a:endParaRPr lang="en-US" sz="1150" dirty="0"/>
          </a:p>
        </p:txBody>
      </p:sp>
      <p:sp>
        <p:nvSpPr>
          <p:cNvPr id="10" name="Shape 7"/>
          <p:cNvSpPr/>
          <p:nvPr/>
        </p:nvSpPr>
        <p:spPr>
          <a:xfrm>
            <a:off x="3621938" y="2011680"/>
            <a:ext cx="2194560" cy="1325880"/>
          </a:xfrm>
          <a:prstGeom prst="roundRect">
            <a:avLst>
              <a:gd name="adj" fmla="val 3448"/>
            </a:avLst>
          </a:prstGeom>
          <a:solidFill>
            <a:srgbClr val="F0E8DA"/>
          </a:solidFill>
          <a:ln w="12700">
            <a:solidFill>
              <a:srgbClr val="F0E8DA"/>
            </a:solidFill>
            <a:prstDash val="solid"/>
          </a:ln>
        </p:spPr>
      </p:sp>
      <p:sp>
        <p:nvSpPr>
          <p:cNvPr id="11" name="Text 8"/>
          <p:cNvSpPr/>
          <p:nvPr/>
        </p:nvSpPr>
        <p:spPr>
          <a:xfrm>
            <a:off x="3621938" y="2194560"/>
            <a:ext cx="2194560" cy="384048"/>
          </a:xfrm>
          <a:prstGeom prst="rect">
            <a:avLst/>
          </a:prstGeom>
          <a:noFill/>
          <a:ln/>
        </p:spPr>
        <p:txBody>
          <a:bodyPr wrap="square" rtlCol="0" anchor="ctr"/>
          <a:lstStyle/>
          <a:p>
            <a:pPr algn="ctr" indent="0" marL="0">
              <a:buNone/>
            </a:pPr>
            <a:r>
              <a:rPr lang="en-US" sz="1550" dirty="0">
                <a:solidFill>
                  <a:srgbClr val="1C1E1C"/>
                </a:solidFill>
                <a:latin typeface="Georgia" pitchFamily="34" charset="0"/>
                <a:ea typeface="Georgia" pitchFamily="34" charset="-122"/>
                <a:cs typeface="Georgia" pitchFamily="34" charset="-120"/>
              </a:rPr>
              <a:t>Amazon EC2</a:t>
            </a:r>
            <a:endParaRPr lang="en-US" sz="1550" dirty="0"/>
          </a:p>
        </p:txBody>
      </p:sp>
      <p:sp>
        <p:nvSpPr>
          <p:cNvPr id="12" name="Text 9"/>
          <p:cNvSpPr/>
          <p:nvPr/>
        </p:nvSpPr>
        <p:spPr>
          <a:xfrm>
            <a:off x="3621938" y="2633472"/>
            <a:ext cx="2194560" cy="347472"/>
          </a:xfrm>
          <a:prstGeom prst="rect">
            <a:avLst/>
          </a:prstGeom>
          <a:noFill/>
          <a:ln/>
        </p:spPr>
        <p:txBody>
          <a:bodyPr wrap="square" rtlCol="0" anchor="ctr"/>
          <a:lstStyle/>
          <a:p>
            <a:pPr algn="ctr" indent="0" marL="0">
              <a:buNone/>
            </a:pPr>
            <a:r>
              <a:rPr lang="en-US" sz="1150" dirty="0">
                <a:solidFill>
                  <a:srgbClr val="4D5551"/>
                </a:solidFill>
                <a:latin typeface="Calibri" pitchFamily="34" charset="0"/>
                <a:ea typeface="Calibri" pitchFamily="34" charset="-122"/>
                <a:cs typeface="Calibri" pitchFamily="34" charset="-120"/>
              </a:rPr>
              <a:t>Flask app, port 8080</a:t>
            </a:r>
            <a:endParaRPr lang="en-US" sz="1150" dirty="0"/>
          </a:p>
        </p:txBody>
      </p:sp>
      <p:sp>
        <p:nvSpPr>
          <p:cNvPr id="13" name="Shape 10"/>
          <p:cNvSpPr/>
          <p:nvPr/>
        </p:nvSpPr>
        <p:spPr>
          <a:xfrm>
            <a:off x="6375197" y="2011680"/>
            <a:ext cx="2194560" cy="1325880"/>
          </a:xfrm>
          <a:prstGeom prst="roundRect">
            <a:avLst>
              <a:gd name="adj" fmla="val 3448"/>
            </a:avLst>
          </a:prstGeom>
          <a:solidFill>
            <a:srgbClr val="E7EDE6"/>
          </a:solidFill>
          <a:ln w="12700">
            <a:solidFill>
              <a:srgbClr val="E7EDE6"/>
            </a:solidFill>
            <a:prstDash val="solid"/>
          </a:ln>
        </p:spPr>
      </p:sp>
      <p:sp>
        <p:nvSpPr>
          <p:cNvPr id="14" name="Text 11"/>
          <p:cNvSpPr/>
          <p:nvPr/>
        </p:nvSpPr>
        <p:spPr>
          <a:xfrm>
            <a:off x="6375197" y="2194560"/>
            <a:ext cx="2194560" cy="384048"/>
          </a:xfrm>
          <a:prstGeom prst="rect">
            <a:avLst/>
          </a:prstGeom>
          <a:noFill/>
          <a:ln/>
        </p:spPr>
        <p:txBody>
          <a:bodyPr wrap="square" rtlCol="0" anchor="ctr"/>
          <a:lstStyle/>
          <a:p>
            <a:pPr algn="ctr" indent="0" marL="0">
              <a:buNone/>
            </a:pPr>
            <a:r>
              <a:rPr lang="en-US" sz="1550" dirty="0">
                <a:solidFill>
                  <a:srgbClr val="1C1E1C"/>
                </a:solidFill>
                <a:latin typeface="Georgia" pitchFamily="34" charset="0"/>
                <a:ea typeface="Georgia" pitchFamily="34" charset="-122"/>
                <a:cs typeface="Georgia" pitchFamily="34" charset="-120"/>
              </a:rPr>
              <a:t>Amazon S3</a:t>
            </a:r>
            <a:endParaRPr lang="en-US" sz="1550" dirty="0"/>
          </a:p>
        </p:txBody>
      </p:sp>
      <p:sp>
        <p:nvSpPr>
          <p:cNvPr id="15" name="Text 12"/>
          <p:cNvSpPr/>
          <p:nvPr/>
        </p:nvSpPr>
        <p:spPr>
          <a:xfrm>
            <a:off x="6375197" y="2633472"/>
            <a:ext cx="2194560" cy="347472"/>
          </a:xfrm>
          <a:prstGeom prst="rect">
            <a:avLst/>
          </a:prstGeom>
          <a:noFill/>
          <a:ln/>
        </p:spPr>
        <p:txBody>
          <a:bodyPr wrap="square" rtlCol="0" anchor="ctr"/>
          <a:lstStyle/>
          <a:p>
            <a:pPr algn="ctr" indent="0" marL="0">
              <a:buNone/>
            </a:pPr>
            <a:r>
              <a:rPr lang="en-US" sz="1150" dirty="0">
                <a:solidFill>
                  <a:srgbClr val="4D5551"/>
                </a:solidFill>
                <a:latin typeface="Calibri" pitchFamily="34" charset="0"/>
                <a:ea typeface="Calibri" pitchFamily="34" charset="-122"/>
                <a:cs typeface="Calibri" pitchFamily="34" charset="-120"/>
              </a:rPr>
              <a:t>private bucket</a:t>
            </a:r>
            <a:endParaRPr lang="en-US" sz="1150" dirty="0"/>
          </a:p>
        </p:txBody>
      </p:sp>
      <p:sp>
        <p:nvSpPr>
          <p:cNvPr id="16" name="Shape 13"/>
          <p:cNvSpPr/>
          <p:nvPr/>
        </p:nvSpPr>
        <p:spPr>
          <a:xfrm>
            <a:off x="9128455" y="2011680"/>
            <a:ext cx="2194560" cy="1325880"/>
          </a:xfrm>
          <a:prstGeom prst="roundRect">
            <a:avLst>
              <a:gd name="adj" fmla="val 3448"/>
            </a:avLst>
          </a:prstGeom>
          <a:solidFill>
            <a:srgbClr val="F1E4E1"/>
          </a:solidFill>
          <a:ln w="12700">
            <a:solidFill>
              <a:srgbClr val="F1E4E1"/>
            </a:solidFill>
            <a:prstDash val="solid"/>
          </a:ln>
        </p:spPr>
      </p:sp>
      <p:sp>
        <p:nvSpPr>
          <p:cNvPr id="17" name="Text 14"/>
          <p:cNvSpPr/>
          <p:nvPr/>
        </p:nvSpPr>
        <p:spPr>
          <a:xfrm>
            <a:off x="9128455" y="2194560"/>
            <a:ext cx="2194560" cy="384048"/>
          </a:xfrm>
          <a:prstGeom prst="rect">
            <a:avLst/>
          </a:prstGeom>
          <a:noFill/>
          <a:ln/>
        </p:spPr>
        <p:txBody>
          <a:bodyPr wrap="square" rtlCol="0" anchor="ctr"/>
          <a:lstStyle/>
          <a:p>
            <a:pPr algn="ctr" indent="0" marL="0">
              <a:buNone/>
            </a:pPr>
            <a:r>
              <a:rPr lang="en-US" sz="1550" dirty="0">
                <a:solidFill>
                  <a:srgbClr val="1C1E1C"/>
                </a:solidFill>
                <a:latin typeface="Georgia" pitchFamily="34" charset="0"/>
                <a:ea typeface="Georgia" pitchFamily="34" charset="-122"/>
                <a:cs typeface="Georgia" pitchFamily="34" charset="-120"/>
              </a:rPr>
              <a:t>IAM role</a:t>
            </a:r>
            <a:endParaRPr lang="en-US" sz="1550" dirty="0"/>
          </a:p>
        </p:txBody>
      </p:sp>
      <p:sp>
        <p:nvSpPr>
          <p:cNvPr id="18" name="Text 15"/>
          <p:cNvSpPr/>
          <p:nvPr/>
        </p:nvSpPr>
        <p:spPr>
          <a:xfrm>
            <a:off x="9128455" y="2633472"/>
            <a:ext cx="2194560" cy="347472"/>
          </a:xfrm>
          <a:prstGeom prst="rect">
            <a:avLst/>
          </a:prstGeom>
          <a:noFill/>
          <a:ln/>
        </p:spPr>
        <p:txBody>
          <a:bodyPr wrap="square" rtlCol="0" anchor="ctr"/>
          <a:lstStyle/>
          <a:p>
            <a:pPr algn="ctr" indent="0" marL="0">
              <a:buNone/>
            </a:pPr>
            <a:r>
              <a:rPr lang="en-US" sz="1150" dirty="0">
                <a:solidFill>
                  <a:srgbClr val="4D5551"/>
                </a:solidFill>
                <a:latin typeface="Calibri" pitchFamily="34" charset="0"/>
                <a:ea typeface="Calibri" pitchFamily="34" charset="-122"/>
                <a:cs typeface="Calibri" pitchFamily="34" charset="-120"/>
              </a:rPr>
              <a:t>temporary keys</a:t>
            </a:r>
            <a:endParaRPr lang="en-US" sz="1150" dirty="0"/>
          </a:p>
        </p:txBody>
      </p:sp>
      <p:sp>
        <p:nvSpPr>
          <p:cNvPr id="19" name="Shape 16"/>
          <p:cNvSpPr/>
          <p:nvPr/>
        </p:nvSpPr>
        <p:spPr>
          <a:xfrm>
            <a:off x="3191256" y="2679192"/>
            <a:ext cx="302666" cy="0"/>
          </a:xfrm>
          <a:prstGeom prst="line">
            <a:avLst/>
          </a:prstGeom>
          <a:noFill/>
          <a:ln w="19050">
            <a:solidFill>
              <a:srgbClr val="2F5D62"/>
            </a:solidFill>
            <a:prstDash val="solid"/>
            <a:tailEnd type="triangle"/>
          </a:ln>
        </p:spPr>
      </p:sp>
      <p:sp>
        <p:nvSpPr>
          <p:cNvPr id="20" name="Text 17"/>
          <p:cNvSpPr/>
          <p:nvPr/>
        </p:nvSpPr>
        <p:spPr>
          <a:xfrm>
            <a:off x="3081528" y="2240280"/>
            <a:ext cx="522122" cy="274320"/>
          </a:xfrm>
          <a:prstGeom prst="rect">
            <a:avLst/>
          </a:prstGeom>
          <a:noFill/>
          <a:ln/>
        </p:spPr>
        <p:txBody>
          <a:bodyPr wrap="square" rtlCol="0" anchor="ctr"/>
          <a:lstStyle/>
          <a:p>
            <a:pPr algn="ctr" indent="0" marL="0">
              <a:buNone/>
            </a:pPr>
            <a:r>
              <a:rPr lang="en-US" sz="1050" dirty="0">
                <a:solidFill>
                  <a:srgbClr val="6E756F"/>
                </a:solidFill>
                <a:latin typeface="Calibri" pitchFamily="34" charset="0"/>
                <a:ea typeface="Calibri" pitchFamily="34" charset="-122"/>
                <a:cs typeface="Calibri" pitchFamily="34" charset="-120"/>
              </a:rPr>
              <a:t>HTTP</a:t>
            </a:r>
            <a:endParaRPr lang="en-US" sz="1050" dirty="0"/>
          </a:p>
        </p:txBody>
      </p:sp>
      <p:sp>
        <p:nvSpPr>
          <p:cNvPr id="21" name="Shape 18"/>
          <p:cNvSpPr/>
          <p:nvPr/>
        </p:nvSpPr>
        <p:spPr>
          <a:xfrm>
            <a:off x="5944514" y="2679192"/>
            <a:ext cx="302666" cy="0"/>
          </a:xfrm>
          <a:prstGeom prst="line">
            <a:avLst/>
          </a:prstGeom>
          <a:noFill/>
          <a:ln w="19050">
            <a:solidFill>
              <a:srgbClr val="2F5D62"/>
            </a:solidFill>
            <a:prstDash val="solid"/>
            <a:tailEnd type="triangle"/>
          </a:ln>
        </p:spPr>
      </p:sp>
      <p:sp>
        <p:nvSpPr>
          <p:cNvPr id="22" name="Text 19"/>
          <p:cNvSpPr/>
          <p:nvPr/>
        </p:nvSpPr>
        <p:spPr>
          <a:xfrm>
            <a:off x="5834786" y="2240280"/>
            <a:ext cx="522122" cy="274320"/>
          </a:xfrm>
          <a:prstGeom prst="rect">
            <a:avLst/>
          </a:prstGeom>
          <a:noFill/>
          <a:ln/>
        </p:spPr>
        <p:txBody>
          <a:bodyPr wrap="square" rtlCol="0" anchor="ctr"/>
          <a:lstStyle/>
          <a:p>
            <a:pPr algn="ctr" indent="0" marL="0">
              <a:buNone/>
            </a:pPr>
            <a:r>
              <a:rPr lang="en-US" sz="1050" dirty="0">
                <a:solidFill>
                  <a:srgbClr val="6E756F"/>
                </a:solidFill>
                <a:latin typeface="Calibri" pitchFamily="34" charset="0"/>
                <a:ea typeface="Calibri" pitchFamily="34" charset="-122"/>
                <a:cs typeface="Calibri" pitchFamily="34" charset="-120"/>
              </a:rPr>
              <a:t>boto3</a:t>
            </a:r>
            <a:endParaRPr lang="en-US" sz="1050" dirty="0"/>
          </a:p>
        </p:txBody>
      </p:sp>
      <p:sp>
        <p:nvSpPr>
          <p:cNvPr id="23" name="Shape 20"/>
          <p:cNvSpPr/>
          <p:nvPr/>
        </p:nvSpPr>
        <p:spPr>
          <a:xfrm>
            <a:off x="8697773" y="2679192"/>
            <a:ext cx="302666" cy="0"/>
          </a:xfrm>
          <a:prstGeom prst="line">
            <a:avLst/>
          </a:prstGeom>
          <a:noFill/>
          <a:ln w="19050">
            <a:solidFill>
              <a:srgbClr val="2F5D62"/>
            </a:solidFill>
            <a:prstDash val="solid"/>
            <a:tailEnd type="triangle"/>
          </a:ln>
        </p:spPr>
      </p:sp>
      <p:sp>
        <p:nvSpPr>
          <p:cNvPr id="24" name="Text 21"/>
          <p:cNvSpPr/>
          <p:nvPr/>
        </p:nvSpPr>
        <p:spPr>
          <a:xfrm>
            <a:off x="8588045" y="2240280"/>
            <a:ext cx="522122" cy="274320"/>
          </a:xfrm>
          <a:prstGeom prst="rect">
            <a:avLst/>
          </a:prstGeom>
          <a:noFill/>
          <a:ln/>
        </p:spPr>
        <p:txBody>
          <a:bodyPr wrap="square" rtlCol="0" anchor="ctr"/>
          <a:lstStyle/>
          <a:p>
            <a:pPr algn="ctr" indent="0" marL="0">
              <a:buNone/>
            </a:pPr>
            <a:r>
              <a:rPr lang="en-US" sz="1050" dirty="0">
                <a:solidFill>
                  <a:srgbClr val="6E756F"/>
                </a:solidFill>
                <a:latin typeface="Calibri" pitchFamily="34" charset="0"/>
                <a:ea typeface="Calibri" pitchFamily="34" charset="-122"/>
                <a:cs typeface="Calibri" pitchFamily="34" charset="-120"/>
              </a:rPr>
              <a:t>grants</a:t>
            </a:r>
            <a:endParaRPr lang="en-US" sz="1050" dirty="0"/>
          </a:p>
        </p:txBody>
      </p:sp>
      <p:sp>
        <p:nvSpPr>
          <p:cNvPr id="25" name="Shape 22"/>
          <p:cNvSpPr/>
          <p:nvPr/>
        </p:nvSpPr>
        <p:spPr>
          <a:xfrm>
            <a:off x="868680" y="3931920"/>
            <a:ext cx="3291840" cy="0"/>
          </a:xfrm>
          <a:prstGeom prst="line">
            <a:avLst/>
          </a:prstGeom>
          <a:noFill/>
          <a:ln w="9525">
            <a:solidFill>
              <a:srgbClr val="DFDAD0"/>
            </a:solidFill>
            <a:prstDash val="solid"/>
          </a:ln>
        </p:spPr>
      </p:sp>
      <p:sp>
        <p:nvSpPr>
          <p:cNvPr id="26" name="Text 23"/>
          <p:cNvSpPr/>
          <p:nvPr/>
        </p:nvSpPr>
        <p:spPr>
          <a:xfrm>
            <a:off x="868680" y="4087368"/>
            <a:ext cx="3200400" cy="365760"/>
          </a:xfrm>
          <a:prstGeom prst="rect">
            <a:avLst/>
          </a:prstGeom>
          <a:noFill/>
          <a:ln/>
        </p:spPr>
        <p:txBody>
          <a:bodyPr wrap="square" rtlCol="0" anchor="ctr"/>
          <a:lstStyle/>
          <a:p>
            <a:pPr indent="0" marL="0">
              <a:buNone/>
            </a:pPr>
            <a:r>
              <a:rPr lang="en-US" sz="1550" dirty="0">
                <a:solidFill>
                  <a:srgbClr val="1C1E1C"/>
                </a:solidFill>
                <a:latin typeface="Georgia" pitchFamily="34" charset="0"/>
                <a:ea typeface="Georgia" pitchFamily="34" charset="-122"/>
                <a:cs typeface="Georgia" pitchFamily="34" charset="-120"/>
              </a:rPr>
              <a:t>EC2 stays stateless</a:t>
            </a:r>
            <a:endParaRPr lang="en-US" sz="1550" dirty="0"/>
          </a:p>
        </p:txBody>
      </p:sp>
      <p:sp>
        <p:nvSpPr>
          <p:cNvPr id="27" name="Text 24"/>
          <p:cNvSpPr/>
          <p:nvPr/>
        </p:nvSpPr>
        <p:spPr>
          <a:xfrm>
            <a:off x="868680" y="4526280"/>
            <a:ext cx="3200400" cy="1188720"/>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Nothing is saved on the instance disk. Terminate it, launch a new one, and the gallery is unchanged.</a:t>
            </a:r>
            <a:endParaRPr lang="en-US" sz="1250" dirty="0"/>
          </a:p>
        </p:txBody>
      </p:sp>
      <p:sp>
        <p:nvSpPr>
          <p:cNvPr id="28" name="Shape 25"/>
          <p:cNvSpPr/>
          <p:nvPr/>
        </p:nvSpPr>
        <p:spPr>
          <a:xfrm>
            <a:off x="4453128" y="3931920"/>
            <a:ext cx="3291840" cy="0"/>
          </a:xfrm>
          <a:prstGeom prst="line">
            <a:avLst/>
          </a:prstGeom>
          <a:noFill/>
          <a:ln w="9525">
            <a:solidFill>
              <a:srgbClr val="DFDAD0"/>
            </a:solidFill>
            <a:prstDash val="solid"/>
          </a:ln>
        </p:spPr>
      </p:sp>
      <p:sp>
        <p:nvSpPr>
          <p:cNvPr id="29" name="Text 26"/>
          <p:cNvSpPr/>
          <p:nvPr/>
        </p:nvSpPr>
        <p:spPr>
          <a:xfrm>
            <a:off x="4453128" y="4087368"/>
            <a:ext cx="3200400" cy="365760"/>
          </a:xfrm>
          <a:prstGeom prst="rect">
            <a:avLst/>
          </a:prstGeom>
          <a:noFill/>
          <a:ln/>
        </p:spPr>
        <p:txBody>
          <a:bodyPr wrap="square" rtlCol="0" anchor="ctr"/>
          <a:lstStyle/>
          <a:p>
            <a:pPr indent="0" marL="0">
              <a:buNone/>
            </a:pPr>
            <a:r>
              <a:rPr lang="en-US" sz="1550" dirty="0">
                <a:solidFill>
                  <a:srgbClr val="1C1E1C"/>
                </a:solidFill>
                <a:latin typeface="Georgia" pitchFamily="34" charset="0"/>
                <a:ea typeface="Georgia" pitchFamily="34" charset="-122"/>
                <a:cs typeface="Georgia" pitchFamily="34" charset="-120"/>
              </a:rPr>
              <a:t>S3 holds the truth</a:t>
            </a:r>
            <a:endParaRPr lang="en-US" sz="1550" dirty="0"/>
          </a:p>
        </p:txBody>
      </p:sp>
      <p:sp>
        <p:nvSpPr>
          <p:cNvPr id="30" name="Text 27"/>
          <p:cNvSpPr/>
          <p:nvPr/>
        </p:nvSpPr>
        <p:spPr>
          <a:xfrm>
            <a:off x="4453128" y="4526280"/>
            <a:ext cx="3200400" cy="1188720"/>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Objects live under uploads/ with a timestamped unique key, so two users can never overwrite each other.</a:t>
            </a:r>
            <a:endParaRPr lang="en-US" sz="1250" dirty="0"/>
          </a:p>
        </p:txBody>
      </p:sp>
      <p:sp>
        <p:nvSpPr>
          <p:cNvPr id="31" name="Shape 28"/>
          <p:cNvSpPr/>
          <p:nvPr/>
        </p:nvSpPr>
        <p:spPr>
          <a:xfrm>
            <a:off x="8037576" y="3931920"/>
            <a:ext cx="3291840" cy="0"/>
          </a:xfrm>
          <a:prstGeom prst="line">
            <a:avLst/>
          </a:prstGeom>
          <a:noFill/>
          <a:ln w="9525">
            <a:solidFill>
              <a:srgbClr val="DFDAD0"/>
            </a:solidFill>
            <a:prstDash val="solid"/>
          </a:ln>
        </p:spPr>
      </p:sp>
      <p:sp>
        <p:nvSpPr>
          <p:cNvPr id="32" name="Text 29"/>
          <p:cNvSpPr/>
          <p:nvPr/>
        </p:nvSpPr>
        <p:spPr>
          <a:xfrm>
            <a:off x="8037576" y="4087368"/>
            <a:ext cx="3200400" cy="365760"/>
          </a:xfrm>
          <a:prstGeom prst="rect">
            <a:avLst/>
          </a:prstGeom>
          <a:noFill/>
          <a:ln/>
        </p:spPr>
        <p:txBody>
          <a:bodyPr wrap="square" rtlCol="0" anchor="ctr"/>
          <a:lstStyle/>
          <a:p>
            <a:pPr indent="0" marL="0">
              <a:buNone/>
            </a:pPr>
            <a:r>
              <a:rPr lang="en-US" sz="1550" dirty="0">
                <a:solidFill>
                  <a:srgbClr val="1C1E1C"/>
                </a:solidFill>
                <a:latin typeface="Georgia" pitchFamily="34" charset="0"/>
                <a:ea typeface="Georgia" pitchFamily="34" charset="-122"/>
                <a:cs typeface="Georgia" pitchFamily="34" charset="-120"/>
              </a:rPr>
              <a:t>No keys in the code</a:t>
            </a:r>
            <a:endParaRPr lang="en-US" sz="1550" dirty="0"/>
          </a:p>
        </p:txBody>
      </p:sp>
      <p:sp>
        <p:nvSpPr>
          <p:cNvPr id="33" name="Text 30"/>
          <p:cNvSpPr/>
          <p:nvPr/>
        </p:nvSpPr>
        <p:spPr>
          <a:xfrm>
            <a:off x="8037576" y="4526280"/>
            <a:ext cx="3200400" cy="1188720"/>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The role supplies rotating credentials, so nothing secret is ever committed to the repository.</a:t>
            </a:r>
            <a:endParaRPr lang="en-US" sz="1250" dirty="0"/>
          </a:p>
        </p:txBody>
      </p:sp>
      <p:sp>
        <p:nvSpPr>
          <p:cNvPr id="34" name="Text 31"/>
          <p:cNvSpPr/>
          <p:nvPr/>
        </p:nvSpPr>
        <p:spPr>
          <a:xfrm>
            <a:off x="868680" y="5852160"/>
            <a:ext cx="10454335" cy="365760"/>
          </a:xfrm>
          <a:prstGeom prst="rect">
            <a:avLst/>
          </a:prstGeom>
          <a:noFill/>
          <a:ln/>
        </p:spPr>
        <p:txBody>
          <a:bodyPr wrap="square" rtlCol="0" anchor="ctr"/>
          <a:lstStyle/>
          <a:p>
            <a:pPr indent="0" marL="0">
              <a:buNone/>
            </a:pPr>
            <a:r>
              <a:rPr lang="en-US" sz="1450" i="1" dirty="0">
                <a:solidFill>
                  <a:srgbClr val="2F5D62"/>
                </a:solidFill>
                <a:latin typeface="Georgia" pitchFamily="34" charset="0"/>
                <a:ea typeface="Georgia" pitchFamily="34" charset="-122"/>
                <a:cs typeface="Georgia" pitchFamily="34" charset="-120"/>
              </a:rPr>
              <a:t>The split between the two middle boxes is the whole project.</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3" name="Text 0"/>
          <p:cNvSpPr/>
          <p:nvPr/>
        </p:nvSpPr>
        <p:spPr>
          <a:xfrm>
            <a:off x="868680" y="475488"/>
            <a:ext cx="7315200" cy="256032"/>
          </a:xfrm>
          <a:prstGeom prst="rect">
            <a:avLst/>
          </a:prstGeom>
          <a:noFill/>
          <a:ln/>
        </p:spPr>
        <p:txBody>
          <a:bodyPr wrap="square" rtlCol="0" anchor="ctr"/>
          <a:lstStyle/>
          <a:p>
            <a:pPr indent="0" marL="0">
              <a:buNone/>
            </a:pPr>
            <a:r>
              <a:rPr lang="en-US" sz="1050" b="1" spc="240" kern="0" dirty="0">
                <a:solidFill>
                  <a:srgbClr val="2F5D62"/>
                </a:solidFill>
                <a:latin typeface="Calibri" pitchFamily="34" charset="0"/>
                <a:ea typeface="Calibri" pitchFamily="34" charset="-122"/>
                <a:cs typeface="Calibri" pitchFamily="34" charset="-120"/>
              </a:rPr>
              <a:t>REQUEST FLOW</a:t>
            </a:r>
            <a:endParaRPr lang="en-US" sz="1050" dirty="0"/>
          </a:p>
        </p:txBody>
      </p:sp>
      <p:sp>
        <p:nvSpPr>
          <p:cNvPr id="4" name="Text 1"/>
          <p:cNvSpPr/>
          <p:nvPr/>
        </p:nvSpPr>
        <p:spPr>
          <a:xfrm>
            <a:off x="868680" y="768096"/>
            <a:ext cx="9539935" cy="621792"/>
          </a:xfrm>
          <a:prstGeom prst="rect">
            <a:avLst/>
          </a:prstGeom>
          <a:noFill/>
          <a:ln/>
        </p:spPr>
        <p:txBody>
          <a:bodyPr wrap="square" rtlCol="0" anchor="ctr"/>
          <a:lstStyle/>
          <a:p>
            <a:pPr indent="0" marL="0">
              <a:buNone/>
            </a:pPr>
            <a:r>
              <a:rPr lang="en-US" sz="3000" dirty="0">
                <a:solidFill>
                  <a:srgbClr val="1C1E1C"/>
                </a:solidFill>
                <a:latin typeface="Georgia" pitchFamily="34" charset="0"/>
                <a:ea typeface="Georgia" pitchFamily="34" charset="-122"/>
                <a:cs typeface="Georgia" pitchFamily="34" charset="-120"/>
              </a:rPr>
              <a:t>What happens when you press Upload</a:t>
            </a:r>
            <a:endParaRPr lang="en-US" sz="3000" dirty="0"/>
          </a:p>
        </p:txBody>
      </p:sp>
      <p:sp>
        <p:nvSpPr>
          <p:cNvPr id="5" name="Text 2"/>
          <p:cNvSpPr/>
          <p:nvPr/>
        </p:nvSpPr>
        <p:spPr>
          <a:xfrm>
            <a:off x="10500055" y="868680"/>
            <a:ext cx="822960" cy="365760"/>
          </a:xfrm>
          <a:prstGeom prst="rect">
            <a:avLst/>
          </a:prstGeom>
          <a:noFill/>
          <a:ln/>
        </p:spPr>
        <p:txBody>
          <a:bodyPr wrap="square" rtlCol="0" anchor="ctr"/>
          <a:lstStyle/>
          <a:p>
            <a:pPr algn="r" indent="0" marL="0">
              <a:buNone/>
            </a:pPr>
            <a:r>
              <a:rPr lang="en-US" sz="1100" spc="100" kern="0" dirty="0">
                <a:solidFill>
                  <a:srgbClr val="6E756F"/>
                </a:solidFill>
                <a:latin typeface="Calibri" pitchFamily="34" charset="0"/>
                <a:ea typeface="Calibri" pitchFamily="34" charset="-122"/>
                <a:cs typeface="Calibri" pitchFamily="34" charset="-120"/>
              </a:rPr>
              <a:t>06</a:t>
            </a:r>
            <a:endParaRPr lang="en-US" sz="1100" dirty="0"/>
          </a:p>
        </p:txBody>
      </p:sp>
      <p:sp>
        <p:nvSpPr>
          <p:cNvPr id="6" name="Shape 3"/>
          <p:cNvSpPr/>
          <p:nvPr/>
        </p:nvSpPr>
        <p:spPr>
          <a:xfrm>
            <a:off x="868680" y="1572768"/>
            <a:ext cx="10454335" cy="0"/>
          </a:xfrm>
          <a:prstGeom prst="line">
            <a:avLst/>
          </a:prstGeom>
          <a:noFill/>
          <a:ln w="9525">
            <a:solidFill>
              <a:srgbClr val="DFDAD0"/>
            </a:solidFill>
            <a:prstDash val="solid"/>
          </a:ln>
        </p:spPr>
      </p:sp>
      <p:sp>
        <p:nvSpPr>
          <p:cNvPr id="7" name="Text 4"/>
          <p:cNvSpPr/>
          <p:nvPr/>
        </p:nvSpPr>
        <p:spPr>
          <a:xfrm>
            <a:off x="868680" y="1929384"/>
            <a:ext cx="548640" cy="384048"/>
          </a:xfrm>
          <a:prstGeom prst="rect">
            <a:avLst/>
          </a:prstGeom>
          <a:noFill/>
          <a:ln/>
        </p:spPr>
        <p:txBody>
          <a:bodyPr wrap="square" rtlCol="0" anchor="ctr"/>
          <a:lstStyle/>
          <a:p>
            <a:pPr indent="0" marL="0">
              <a:buNone/>
            </a:pPr>
            <a:r>
              <a:rPr lang="en-US" sz="1800" dirty="0">
                <a:solidFill>
                  <a:srgbClr val="2F5D62"/>
                </a:solidFill>
                <a:latin typeface="Georgia" pitchFamily="34" charset="0"/>
                <a:ea typeface="Georgia" pitchFamily="34" charset="-122"/>
                <a:cs typeface="Georgia" pitchFamily="34" charset="-120"/>
              </a:rPr>
              <a:t>01</a:t>
            </a:r>
            <a:endParaRPr lang="en-US" sz="1800" dirty="0"/>
          </a:p>
        </p:txBody>
      </p:sp>
      <p:sp>
        <p:nvSpPr>
          <p:cNvPr id="8" name="Text 5"/>
          <p:cNvSpPr/>
          <p:nvPr/>
        </p:nvSpPr>
        <p:spPr>
          <a:xfrm>
            <a:off x="1508760" y="1965960"/>
            <a:ext cx="4389120" cy="365760"/>
          </a:xfrm>
          <a:prstGeom prst="rect">
            <a:avLst/>
          </a:prstGeom>
          <a:noFill/>
          <a:ln/>
        </p:spPr>
        <p:txBody>
          <a:bodyPr wrap="square" rtlCol="0" anchor="ctr"/>
          <a:lstStyle/>
          <a:p>
            <a:pPr indent="0" marL="0">
              <a:buNone/>
            </a:pPr>
            <a:r>
              <a:rPr lang="en-US" sz="1650" dirty="0">
                <a:solidFill>
                  <a:srgbClr val="1C1E1C"/>
                </a:solidFill>
                <a:latin typeface="Georgia" pitchFamily="34" charset="0"/>
                <a:ea typeface="Georgia" pitchFamily="34" charset="-122"/>
                <a:cs typeface="Georgia" pitchFamily="34" charset="-120"/>
              </a:rPr>
              <a:t>Browser posts the file</a:t>
            </a:r>
            <a:endParaRPr lang="en-US" sz="1650" dirty="0"/>
          </a:p>
        </p:txBody>
      </p:sp>
      <p:sp>
        <p:nvSpPr>
          <p:cNvPr id="9" name="Text 6"/>
          <p:cNvSpPr/>
          <p:nvPr/>
        </p:nvSpPr>
        <p:spPr>
          <a:xfrm>
            <a:off x="1508760" y="2368296"/>
            <a:ext cx="4389120" cy="658368"/>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A multipart form sends the image to /upload on the instance.</a:t>
            </a:r>
            <a:endParaRPr lang="en-US" sz="1250" dirty="0"/>
          </a:p>
        </p:txBody>
      </p:sp>
      <p:sp>
        <p:nvSpPr>
          <p:cNvPr id="10" name="Shape 7"/>
          <p:cNvSpPr/>
          <p:nvPr/>
        </p:nvSpPr>
        <p:spPr>
          <a:xfrm>
            <a:off x="868680" y="3081528"/>
            <a:ext cx="4907128" cy="0"/>
          </a:xfrm>
          <a:prstGeom prst="line">
            <a:avLst/>
          </a:prstGeom>
          <a:noFill/>
          <a:ln w="9525">
            <a:solidFill>
              <a:srgbClr val="DFDAD0"/>
            </a:solidFill>
            <a:prstDash val="solid"/>
          </a:ln>
        </p:spPr>
      </p:sp>
      <p:sp>
        <p:nvSpPr>
          <p:cNvPr id="11" name="Text 8"/>
          <p:cNvSpPr/>
          <p:nvPr/>
        </p:nvSpPr>
        <p:spPr>
          <a:xfrm>
            <a:off x="6370168" y="1929384"/>
            <a:ext cx="548640" cy="384048"/>
          </a:xfrm>
          <a:prstGeom prst="rect">
            <a:avLst/>
          </a:prstGeom>
          <a:noFill/>
          <a:ln/>
        </p:spPr>
        <p:txBody>
          <a:bodyPr wrap="square" rtlCol="0" anchor="ctr"/>
          <a:lstStyle/>
          <a:p>
            <a:pPr indent="0" marL="0">
              <a:buNone/>
            </a:pPr>
            <a:r>
              <a:rPr lang="en-US" sz="1800" dirty="0">
                <a:solidFill>
                  <a:srgbClr val="2F5D62"/>
                </a:solidFill>
                <a:latin typeface="Georgia" pitchFamily="34" charset="0"/>
                <a:ea typeface="Georgia" pitchFamily="34" charset="-122"/>
                <a:cs typeface="Georgia" pitchFamily="34" charset="-120"/>
              </a:rPr>
              <a:t>02</a:t>
            </a:r>
            <a:endParaRPr lang="en-US" sz="1800" dirty="0"/>
          </a:p>
        </p:txBody>
      </p:sp>
      <p:sp>
        <p:nvSpPr>
          <p:cNvPr id="12" name="Text 9"/>
          <p:cNvSpPr/>
          <p:nvPr/>
        </p:nvSpPr>
        <p:spPr>
          <a:xfrm>
            <a:off x="7010248" y="1965960"/>
            <a:ext cx="4389120" cy="365760"/>
          </a:xfrm>
          <a:prstGeom prst="rect">
            <a:avLst/>
          </a:prstGeom>
          <a:noFill/>
          <a:ln/>
        </p:spPr>
        <p:txBody>
          <a:bodyPr wrap="square" rtlCol="0" anchor="ctr"/>
          <a:lstStyle/>
          <a:p>
            <a:pPr indent="0" marL="0">
              <a:buNone/>
            </a:pPr>
            <a:r>
              <a:rPr lang="en-US" sz="1650" dirty="0">
                <a:solidFill>
                  <a:srgbClr val="1C1E1C"/>
                </a:solidFill>
                <a:latin typeface="Georgia" pitchFamily="34" charset="0"/>
                <a:ea typeface="Georgia" pitchFamily="34" charset="-122"/>
                <a:cs typeface="Georgia" pitchFamily="34" charset="-120"/>
              </a:rPr>
              <a:t>The app validates it</a:t>
            </a:r>
            <a:endParaRPr lang="en-US" sz="1650" dirty="0"/>
          </a:p>
        </p:txBody>
      </p:sp>
      <p:sp>
        <p:nvSpPr>
          <p:cNvPr id="13" name="Text 10"/>
          <p:cNvSpPr/>
          <p:nvPr/>
        </p:nvSpPr>
        <p:spPr>
          <a:xfrm>
            <a:off x="7010248" y="2368296"/>
            <a:ext cx="4389120" cy="658368"/>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The extension must be an image type and the body under 10 MB.</a:t>
            </a:r>
            <a:endParaRPr lang="en-US" sz="1250" dirty="0"/>
          </a:p>
        </p:txBody>
      </p:sp>
      <p:sp>
        <p:nvSpPr>
          <p:cNvPr id="14" name="Shape 11"/>
          <p:cNvSpPr/>
          <p:nvPr/>
        </p:nvSpPr>
        <p:spPr>
          <a:xfrm>
            <a:off x="6370168" y="3081528"/>
            <a:ext cx="4907128" cy="0"/>
          </a:xfrm>
          <a:prstGeom prst="line">
            <a:avLst/>
          </a:prstGeom>
          <a:noFill/>
          <a:ln w="9525">
            <a:solidFill>
              <a:srgbClr val="DFDAD0"/>
            </a:solidFill>
            <a:prstDash val="solid"/>
          </a:ln>
        </p:spPr>
      </p:sp>
      <p:sp>
        <p:nvSpPr>
          <p:cNvPr id="15" name="Text 12"/>
          <p:cNvSpPr/>
          <p:nvPr/>
        </p:nvSpPr>
        <p:spPr>
          <a:xfrm>
            <a:off x="868680" y="3346704"/>
            <a:ext cx="548640" cy="384048"/>
          </a:xfrm>
          <a:prstGeom prst="rect">
            <a:avLst/>
          </a:prstGeom>
          <a:noFill/>
          <a:ln/>
        </p:spPr>
        <p:txBody>
          <a:bodyPr wrap="square" rtlCol="0" anchor="ctr"/>
          <a:lstStyle/>
          <a:p>
            <a:pPr indent="0" marL="0">
              <a:buNone/>
            </a:pPr>
            <a:r>
              <a:rPr lang="en-US" sz="1800" dirty="0">
                <a:solidFill>
                  <a:srgbClr val="2F5D62"/>
                </a:solidFill>
                <a:latin typeface="Georgia" pitchFamily="34" charset="0"/>
                <a:ea typeface="Georgia" pitchFamily="34" charset="-122"/>
                <a:cs typeface="Georgia" pitchFamily="34" charset="-120"/>
              </a:rPr>
              <a:t>03</a:t>
            </a:r>
            <a:endParaRPr lang="en-US" sz="1800" dirty="0"/>
          </a:p>
        </p:txBody>
      </p:sp>
      <p:sp>
        <p:nvSpPr>
          <p:cNvPr id="16" name="Text 13"/>
          <p:cNvSpPr/>
          <p:nvPr/>
        </p:nvSpPr>
        <p:spPr>
          <a:xfrm>
            <a:off x="1508760" y="3383280"/>
            <a:ext cx="4389120" cy="365760"/>
          </a:xfrm>
          <a:prstGeom prst="rect">
            <a:avLst/>
          </a:prstGeom>
          <a:noFill/>
          <a:ln/>
        </p:spPr>
        <p:txBody>
          <a:bodyPr wrap="square" rtlCol="0" anchor="ctr"/>
          <a:lstStyle/>
          <a:p>
            <a:pPr indent="0" marL="0">
              <a:buNone/>
            </a:pPr>
            <a:r>
              <a:rPr lang="en-US" sz="1650" dirty="0">
                <a:solidFill>
                  <a:srgbClr val="1C1E1C"/>
                </a:solidFill>
                <a:latin typeface="Georgia" pitchFamily="34" charset="0"/>
                <a:ea typeface="Georgia" pitchFamily="34" charset="-122"/>
                <a:cs typeface="Georgia" pitchFamily="34" charset="-120"/>
              </a:rPr>
              <a:t>A unique key is built</a:t>
            </a:r>
            <a:endParaRPr lang="en-US" sz="1650" dirty="0"/>
          </a:p>
        </p:txBody>
      </p:sp>
      <p:sp>
        <p:nvSpPr>
          <p:cNvPr id="17" name="Text 14"/>
          <p:cNvSpPr/>
          <p:nvPr/>
        </p:nvSpPr>
        <p:spPr>
          <a:xfrm>
            <a:off x="1508760" y="3785616"/>
            <a:ext cx="4389120" cy="658368"/>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uploads/20261010-141655-5e12be.png, a timestamp plus a random suffix.</a:t>
            </a:r>
            <a:endParaRPr lang="en-US" sz="1250" dirty="0"/>
          </a:p>
        </p:txBody>
      </p:sp>
      <p:sp>
        <p:nvSpPr>
          <p:cNvPr id="18" name="Shape 15"/>
          <p:cNvSpPr/>
          <p:nvPr/>
        </p:nvSpPr>
        <p:spPr>
          <a:xfrm>
            <a:off x="868680" y="4498848"/>
            <a:ext cx="4907128" cy="0"/>
          </a:xfrm>
          <a:prstGeom prst="line">
            <a:avLst/>
          </a:prstGeom>
          <a:noFill/>
          <a:ln w="9525">
            <a:solidFill>
              <a:srgbClr val="DFDAD0"/>
            </a:solidFill>
            <a:prstDash val="solid"/>
          </a:ln>
        </p:spPr>
      </p:sp>
      <p:sp>
        <p:nvSpPr>
          <p:cNvPr id="19" name="Text 16"/>
          <p:cNvSpPr/>
          <p:nvPr/>
        </p:nvSpPr>
        <p:spPr>
          <a:xfrm>
            <a:off x="6370168" y="3346704"/>
            <a:ext cx="548640" cy="384048"/>
          </a:xfrm>
          <a:prstGeom prst="rect">
            <a:avLst/>
          </a:prstGeom>
          <a:noFill/>
          <a:ln/>
        </p:spPr>
        <p:txBody>
          <a:bodyPr wrap="square" rtlCol="0" anchor="ctr"/>
          <a:lstStyle/>
          <a:p>
            <a:pPr indent="0" marL="0">
              <a:buNone/>
            </a:pPr>
            <a:r>
              <a:rPr lang="en-US" sz="1800" dirty="0">
                <a:solidFill>
                  <a:srgbClr val="2F5D62"/>
                </a:solidFill>
                <a:latin typeface="Georgia" pitchFamily="34" charset="0"/>
                <a:ea typeface="Georgia" pitchFamily="34" charset="-122"/>
                <a:cs typeface="Georgia" pitchFamily="34" charset="-120"/>
              </a:rPr>
              <a:t>04</a:t>
            </a:r>
            <a:endParaRPr lang="en-US" sz="1800" dirty="0"/>
          </a:p>
        </p:txBody>
      </p:sp>
      <p:sp>
        <p:nvSpPr>
          <p:cNvPr id="20" name="Text 17"/>
          <p:cNvSpPr/>
          <p:nvPr/>
        </p:nvSpPr>
        <p:spPr>
          <a:xfrm>
            <a:off x="7010248" y="3383280"/>
            <a:ext cx="4389120" cy="365760"/>
          </a:xfrm>
          <a:prstGeom prst="rect">
            <a:avLst/>
          </a:prstGeom>
          <a:noFill/>
          <a:ln/>
        </p:spPr>
        <p:txBody>
          <a:bodyPr wrap="square" rtlCol="0" anchor="ctr"/>
          <a:lstStyle/>
          <a:p>
            <a:pPr indent="0" marL="0">
              <a:buNone/>
            </a:pPr>
            <a:r>
              <a:rPr lang="en-US" sz="1650" dirty="0">
                <a:solidFill>
                  <a:srgbClr val="1C1E1C"/>
                </a:solidFill>
                <a:latin typeface="Georgia" pitchFamily="34" charset="0"/>
                <a:ea typeface="Georgia" pitchFamily="34" charset="-122"/>
                <a:cs typeface="Georgia" pitchFamily="34" charset="-120"/>
              </a:rPr>
              <a:t>boto3 streams it to S3</a:t>
            </a:r>
            <a:endParaRPr lang="en-US" sz="1650" dirty="0"/>
          </a:p>
        </p:txBody>
      </p:sp>
      <p:sp>
        <p:nvSpPr>
          <p:cNvPr id="21" name="Text 18"/>
          <p:cNvSpPr/>
          <p:nvPr/>
        </p:nvSpPr>
        <p:spPr>
          <a:xfrm>
            <a:off x="7010248" y="3785616"/>
            <a:ext cx="4389120" cy="658368"/>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upload_fileobj sends the bytes through. Nothing touches the EC2 disk.</a:t>
            </a:r>
            <a:endParaRPr lang="en-US" sz="1250" dirty="0"/>
          </a:p>
        </p:txBody>
      </p:sp>
      <p:sp>
        <p:nvSpPr>
          <p:cNvPr id="22" name="Shape 19"/>
          <p:cNvSpPr/>
          <p:nvPr/>
        </p:nvSpPr>
        <p:spPr>
          <a:xfrm>
            <a:off x="6370168" y="4498848"/>
            <a:ext cx="4907128" cy="0"/>
          </a:xfrm>
          <a:prstGeom prst="line">
            <a:avLst/>
          </a:prstGeom>
          <a:noFill/>
          <a:ln w="9525">
            <a:solidFill>
              <a:srgbClr val="DFDAD0"/>
            </a:solidFill>
            <a:prstDash val="solid"/>
          </a:ln>
        </p:spPr>
      </p:sp>
      <p:sp>
        <p:nvSpPr>
          <p:cNvPr id="23" name="Text 20"/>
          <p:cNvSpPr/>
          <p:nvPr/>
        </p:nvSpPr>
        <p:spPr>
          <a:xfrm>
            <a:off x="868680" y="4764024"/>
            <a:ext cx="548640" cy="384048"/>
          </a:xfrm>
          <a:prstGeom prst="rect">
            <a:avLst/>
          </a:prstGeom>
          <a:noFill/>
          <a:ln/>
        </p:spPr>
        <p:txBody>
          <a:bodyPr wrap="square" rtlCol="0" anchor="ctr"/>
          <a:lstStyle/>
          <a:p>
            <a:pPr indent="0" marL="0">
              <a:buNone/>
            </a:pPr>
            <a:r>
              <a:rPr lang="en-US" sz="1800" dirty="0">
                <a:solidFill>
                  <a:srgbClr val="2F5D62"/>
                </a:solidFill>
                <a:latin typeface="Georgia" pitchFamily="34" charset="0"/>
                <a:ea typeface="Georgia" pitchFamily="34" charset="-122"/>
                <a:cs typeface="Georgia" pitchFamily="34" charset="-120"/>
              </a:rPr>
              <a:t>05</a:t>
            </a:r>
            <a:endParaRPr lang="en-US" sz="1800" dirty="0"/>
          </a:p>
        </p:txBody>
      </p:sp>
      <p:sp>
        <p:nvSpPr>
          <p:cNvPr id="24" name="Text 21"/>
          <p:cNvSpPr/>
          <p:nvPr/>
        </p:nvSpPr>
        <p:spPr>
          <a:xfrm>
            <a:off x="1508760" y="4800600"/>
            <a:ext cx="4389120" cy="365760"/>
          </a:xfrm>
          <a:prstGeom prst="rect">
            <a:avLst/>
          </a:prstGeom>
          <a:noFill/>
          <a:ln/>
        </p:spPr>
        <p:txBody>
          <a:bodyPr wrap="square" rtlCol="0" anchor="ctr"/>
          <a:lstStyle/>
          <a:p>
            <a:pPr indent="0" marL="0">
              <a:buNone/>
            </a:pPr>
            <a:r>
              <a:rPr lang="en-US" sz="1650" dirty="0">
                <a:solidFill>
                  <a:srgbClr val="1C1E1C"/>
                </a:solidFill>
                <a:latin typeface="Georgia" pitchFamily="34" charset="0"/>
                <a:ea typeface="Georgia" pitchFamily="34" charset="-122"/>
                <a:cs typeface="Georgia" pitchFamily="34" charset="-120"/>
              </a:rPr>
              <a:t>The gallery re-reads S3</a:t>
            </a:r>
            <a:endParaRPr lang="en-US" sz="1650" dirty="0"/>
          </a:p>
        </p:txBody>
      </p:sp>
      <p:sp>
        <p:nvSpPr>
          <p:cNvPr id="25" name="Text 22"/>
          <p:cNvSpPr/>
          <p:nvPr/>
        </p:nvSpPr>
        <p:spPr>
          <a:xfrm>
            <a:off x="1508760" y="5202936"/>
            <a:ext cx="4389120" cy="658368"/>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list_objects_v2 returns every object, which the app sorts newest first.</a:t>
            </a:r>
            <a:endParaRPr lang="en-US" sz="1250" dirty="0"/>
          </a:p>
        </p:txBody>
      </p:sp>
      <p:sp>
        <p:nvSpPr>
          <p:cNvPr id="26" name="Shape 23"/>
          <p:cNvSpPr/>
          <p:nvPr/>
        </p:nvSpPr>
        <p:spPr>
          <a:xfrm>
            <a:off x="868680" y="5916168"/>
            <a:ext cx="4907128" cy="0"/>
          </a:xfrm>
          <a:prstGeom prst="line">
            <a:avLst/>
          </a:prstGeom>
          <a:noFill/>
          <a:ln w="9525">
            <a:solidFill>
              <a:srgbClr val="DFDAD0"/>
            </a:solidFill>
            <a:prstDash val="solid"/>
          </a:ln>
        </p:spPr>
      </p:sp>
      <p:sp>
        <p:nvSpPr>
          <p:cNvPr id="27" name="Text 24"/>
          <p:cNvSpPr/>
          <p:nvPr/>
        </p:nvSpPr>
        <p:spPr>
          <a:xfrm>
            <a:off x="6370168" y="4764024"/>
            <a:ext cx="548640" cy="384048"/>
          </a:xfrm>
          <a:prstGeom prst="rect">
            <a:avLst/>
          </a:prstGeom>
          <a:noFill/>
          <a:ln/>
        </p:spPr>
        <p:txBody>
          <a:bodyPr wrap="square" rtlCol="0" anchor="ctr"/>
          <a:lstStyle/>
          <a:p>
            <a:pPr indent="0" marL="0">
              <a:buNone/>
            </a:pPr>
            <a:r>
              <a:rPr lang="en-US" sz="1800" dirty="0">
                <a:solidFill>
                  <a:srgbClr val="2F5D62"/>
                </a:solidFill>
                <a:latin typeface="Georgia" pitchFamily="34" charset="0"/>
                <a:ea typeface="Georgia" pitchFamily="34" charset="-122"/>
                <a:cs typeface="Georgia" pitchFamily="34" charset="-120"/>
              </a:rPr>
              <a:t>06</a:t>
            </a:r>
            <a:endParaRPr lang="en-US" sz="1800" dirty="0"/>
          </a:p>
        </p:txBody>
      </p:sp>
      <p:sp>
        <p:nvSpPr>
          <p:cNvPr id="28" name="Text 25"/>
          <p:cNvSpPr/>
          <p:nvPr/>
        </p:nvSpPr>
        <p:spPr>
          <a:xfrm>
            <a:off x="7010248" y="4800600"/>
            <a:ext cx="4389120" cy="365760"/>
          </a:xfrm>
          <a:prstGeom prst="rect">
            <a:avLst/>
          </a:prstGeom>
          <a:noFill/>
          <a:ln/>
        </p:spPr>
        <p:txBody>
          <a:bodyPr wrap="square" rtlCol="0" anchor="ctr"/>
          <a:lstStyle/>
          <a:p>
            <a:pPr indent="0" marL="0">
              <a:buNone/>
            </a:pPr>
            <a:r>
              <a:rPr lang="en-US" sz="1650" dirty="0">
                <a:solidFill>
                  <a:srgbClr val="1C1E1C"/>
                </a:solidFill>
                <a:latin typeface="Georgia" pitchFamily="34" charset="0"/>
                <a:ea typeface="Georgia" pitchFamily="34" charset="-122"/>
                <a:cs typeface="Georgia" pitchFamily="34" charset="-120"/>
              </a:rPr>
              <a:t>Signed links render it</a:t>
            </a:r>
            <a:endParaRPr lang="en-US" sz="1650" dirty="0"/>
          </a:p>
        </p:txBody>
      </p:sp>
      <p:sp>
        <p:nvSpPr>
          <p:cNvPr id="29" name="Text 26"/>
          <p:cNvSpPr/>
          <p:nvPr/>
        </p:nvSpPr>
        <p:spPr>
          <a:xfrm>
            <a:off x="7010248" y="5202936"/>
            <a:ext cx="4389120" cy="658368"/>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Each thumbnail gets a URL valid for one hour. The bucket stays private.</a:t>
            </a:r>
            <a:endParaRPr lang="en-US" sz="1250" dirty="0"/>
          </a:p>
        </p:txBody>
      </p:sp>
      <p:sp>
        <p:nvSpPr>
          <p:cNvPr id="30" name="Shape 27"/>
          <p:cNvSpPr/>
          <p:nvPr/>
        </p:nvSpPr>
        <p:spPr>
          <a:xfrm>
            <a:off x="6370168" y="5916168"/>
            <a:ext cx="4907128" cy="0"/>
          </a:xfrm>
          <a:prstGeom prst="line">
            <a:avLst/>
          </a:prstGeom>
          <a:noFill/>
          <a:ln w="9525">
            <a:solidFill>
              <a:srgbClr val="DFDAD0"/>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3" name="Text 0"/>
          <p:cNvSpPr/>
          <p:nvPr/>
        </p:nvSpPr>
        <p:spPr>
          <a:xfrm>
            <a:off x="868680" y="475488"/>
            <a:ext cx="7315200" cy="256032"/>
          </a:xfrm>
          <a:prstGeom prst="rect">
            <a:avLst/>
          </a:prstGeom>
          <a:noFill/>
          <a:ln/>
        </p:spPr>
        <p:txBody>
          <a:bodyPr wrap="square" rtlCol="0" anchor="ctr"/>
          <a:lstStyle/>
          <a:p>
            <a:pPr indent="0" marL="0">
              <a:buNone/>
            </a:pPr>
            <a:r>
              <a:rPr lang="en-US" sz="1050" b="1" spc="240" kern="0" dirty="0">
                <a:solidFill>
                  <a:srgbClr val="2F5D62"/>
                </a:solidFill>
                <a:latin typeface="Calibri" pitchFamily="34" charset="0"/>
                <a:ea typeface="Calibri" pitchFamily="34" charset="-122"/>
                <a:cs typeface="Calibri" pitchFamily="34" charset="-120"/>
              </a:rPr>
              <a:t>SECURITY</a:t>
            </a:r>
            <a:endParaRPr lang="en-US" sz="1050" dirty="0"/>
          </a:p>
        </p:txBody>
      </p:sp>
      <p:sp>
        <p:nvSpPr>
          <p:cNvPr id="4" name="Text 1"/>
          <p:cNvSpPr/>
          <p:nvPr/>
        </p:nvSpPr>
        <p:spPr>
          <a:xfrm>
            <a:off x="868680" y="768096"/>
            <a:ext cx="9539935" cy="621792"/>
          </a:xfrm>
          <a:prstGeom prst="rect">
            <a:avLst/>
          </a:prstGeom>
          <a:noFill/>
          <a:ln/>
        </p:spPr>
        <p:txBody>
          <a:bodyPr wrap="square" rtlCol="0" anchor="ctr"/>
          <a:lstStyle/>
          <a:p>
            <a:pPr indent="0" marL="0">
              <a:buNone/>
            </a:pPr>
            <a:r>
              <a:rPr lang="en-US" sz="3000" dirty="0">
                <a:solidFill>
                  <a:srgbClr val="1C1E1C"/>
                </a:solidFill>
                <a:latin typeface="Georgia" pitchFamily="34" charset="0"/>
                <a:ea typeface="Georgia" pitchFamily="34" charset="-122"/>
                <a:cs typeface="Georgia" pitchFamily="34" charset="-120"/>
              </a:rPr>
              <a:t>Keeping the bucket private</a:t>
            </a:r>
            <a:endParaRPr lang="en-US" sz="3000" dirty="0"/>
          </a:p>
        </p:txBody>
      </p:sp>
      <p:sp>
        <p:nvSpPr>
          <p:cNvPr id="5" name="Text 2"/>
          <p:cNvSpPr/>
          <p:nvPr/>
        </p:nvSpPr>
        <p:spPr>
          <a:xfrm>
            <a:off x="10500055" y="868680"/>
            <a:ext cx="822960" cy="365760"/>
          </a:xfrm>
          <a:prstGeom prst="rect">
            <a:avLst/>
          </a:prstGeom>
          <a:noFill/>
          <a:ln/>
        </p:spPr>
        <p:txBody>
          <a:bodyPr wrap="square" rtlCol="0" anchor="ctr"/>
          <a:lstStyle/>
          <a:p>
            <a:pPr algn="r" indent="0" marL="0">
              <a:buNone/>
            </a:pPr>
            <a:r>
              <a:rPr lang="en-US" sz="1100" spc="100" kern="0" dirty="0">
                <a:solidFill>
                  <a:srgbClr val="6E756F"/>
                </a:solidFill>
                <a:latin typeface="Calibri" pitchFamily="34" charset="0"/>
                <a:ea typeface="Calibri" pitchFamily="34" charset="-122"/>
                <a:cs typeface="Calibri" pitchFamily="34" charset="-120"/>
              </a:rPr>
              <a:t>07</a:t>
            </a:r>
            <a:endParaRPr lang="en-US" sz="1100" dirty="0"/>
          </a:p>
        </p:txBody>
      </p:sp>
      <p:sp>
        <p:nvSpPr>
          <p:cNvPr id="6" name="Shape 3"/>
          <p:cNvSpPr/>
          <p:nvPr/>
        </p:nvSpPr>
        <p:spPr>
          <a:xfrm>
            <a:off x="868680" y="1572768"/>
            <a:ext cx="10454335" cy="0"/>
          </a:xfrm>
          <a:prstGeom prst="line">
            <a:avLst/>
          </a:prstGeom>
          <a:noFill/>
          <a:ln w="9525">
            <a:solidFill>
              <a:srgbClr val="DFDAD0"/>
            </a:solidFill>
            <a:prstDash val="solid"/>
          </a:ln>
        </p:spPr>
      </p:sp>
      <p:sp>
        <p:nvSpPr>
          <p:cNvPr id="7" name="Shape 4"/>
          <p:cNvSpPr/>
          <p:nvPr/>
        </p:nvSpPr>
        <p:spPr>
          <a:xfrm>
            <a:off x="868680" y="1874520"/>
            <a:ext cx="5074920" cy="2834640"/>
          </a:xfrm>
          <a:prstGeom prst="roundRect">
            <a:avLst>
              <a:gd name="adj" fmla="val 1613"/>
            </a:avLst>
          </a:prstGeom>
          <a:solidFill>
            <a:srgbClr val="F1E4E1"/>
          </a:solidFill>
          <a:ln w="12700">
            <a:solidFill>
              <a:srgbClr val="F1E4E1"/>
            </a:solidFill>
            <a:prstDash val="solid"/>
          </a:ln>
        </p:spPr>
      </p:sp>
      <p:sp>
        <p:nvSpPr>
          <p:cNvPr id="8" name="Text 5"/>
          <p:cNvSpPr/>
          <p:nvPr/>
        </p:nvSpPr>
        <p:spPr>
          <a:xfrm>
            <a:off x="1234440" y="2103120"/>
            <a:ext cx="4389120" cy="384048"/>
          </a:xfrm>
          <a:prstGeom prst="rect">
            <a:avLst/>
          </a:prstGeom>
          <a:noFill/>
          <a:ln/>
        </p:spPr>
        <p:txBody>
          <a:bodyPr wrap="square" rtlCol="0" anchor="ctr"/>
          <a:lstStyle/>
          <a:p>
            <a:pPr indent="0" marL="0">
              <a:buNone/>
            </a:pPr>
            <a:r>
              <a:rPr lang="en-US" sz="1750" dirty="0">
                <a:solidFill>
                  <a:srgbClr val="1C1E1C"/>
                </a:solidFill>
                <a:latin typeface="Georgia" pitchFamily="34" charset="0"/>
                <a:ea typeface="Georgia" pitchFamily="34" charset="-122"/>
                <a:cs typeface="Georgia" pitchFamily="34" charset="-120"/>
              </a:rPr>
              <a:t>The shortcut, avoided</a:t>
            </a:r>
            <a:endParaRPr lang="en-US" sz="1750" dirty="0"/>
          </a:p>
        </p:txBody>
      </p:sp>
      <p:sp>
        <p:nvSpPr>
          <p:cNvPr id="9" name="Text 6"/>
          <p:cNvSpPr/>
          <p:nvPr/>
        </p:nvSpPr>
        <p:spPr>
          <a:xfrm>
            <a:off x="1234440" y="2578608"/>
            <a:ext cx="4343400" cy="1920240"/>
          </a:xfrm>
          <a:prstGeom prst="rect">
            <a:avLst/>
          </a:prstGeom>
          <a:noFill/>
          <a:ln/>
        </p:spPr>
        <p:txBody>
          <a:bodyPr wrap="square" rtlCol="0" anchor="t"/>
          <a:lstStyle/>
          <a:p>
            <a:pPr marL="228600" indent="-228600">
              <a:lnSpc>
                <a:spcPts val="2600"/>
              </a:lnSpc>
              <a:buSzPct val="100000"/>
              <a:buChar char="•"/>
            </a:pPr>
            <a:r>
              <a:rPr lang="en-US" sz="1300" dirty="0">
                <a:solidFill>
                  <a:srgbClr val="6B4A46"/>
                </a:solidFill>
                <a:latin typeface="Calibri" pitchFamily="34" charset="0"/>
                <a:ea typeface="Calibri" pitchFamily="34" charset="-122"/>
                <a:cs typeface="Calibri" pitchFamily="34" charset="-120"/>
              </a:rPr>
              <a:t>Make the bucket public so image tags work</a:t>
            </a:r>
            <a:endParaRPr lang="en-US" sz="1300" dirty="0"/>
          </a:p>
          <a:p>
            <a:pPr marL="228600" indent="-228600">
              <a:lnSpc>
                <a:spcPts val="2600"/>
              </a:lnSpc>
              <a:buSzPct val="100000"/>
              <a:buChar char="•"/>
            </a:pPr>
            <a:r>
              <a:rPr lang="en-US" sz="1300" dirty="0">
                <a:solidFill>
                  <a:srgbClr val="6B4A46"/>
                </a:solidFill>
                <a:latin typeface="Calibri" pitchFamily="34" charset="0"/>
                <a:ea typeface="Calibri" pitchFamily="34" charset="-122"/>
                <a:cs typeface="Calibri" pitchFamily="34" charset="-120"/>
              </a:rPr>
              <a:t>Paste access keys into the source file</a:t>
            </a:r>
            <a:endParaRPr lang="en-US" sz="1300" dirty="0"/>
          </a:p>
          <a:p>
            <a:pPr marL="228600" indent="-228600">
              <a:lnSpc>
                <a:spcPts val="2600"/>
              </a:lnSpc>
              <a:buSzPct val="100000"/>
              <a:buChar char="•"/>
            </a:pPr>
            <a:r>
              <a:rPr lang="en-US" sz="1300" dirty="0">
                <a:solidFill>
                  <a:srgbClr val="6B4A46"/>
                </a:solidFill>
                <a:latin typeface="Calibri" pitchFamily="34" charset="0"/>
                <a:ea typeface="Calibri" pitchFamily="34" charset="-122"/>
                <a:cs typeface="Calibri" pitchFamily="34" charset="-120"/>
              </a:rPr>
              <a:t>Anyone guessing a URL reads every image</a:t>
            </a:r>
            <a:endParaRPr lang="en-US" sz="1300" dirty="0"/>
          </a:p>
          <a:p>
            <a:pPr marL="228600" indent="-228600">
              <a:lnSpc>
                <a:spcPts val="2600"/>
              </a:lnSpc>
              <a:buSzPct val="100000"/>
              <a:buChar char="•"/>
            </a:pPr>
            <a:r>
              <a:rPr lang="en-US" sz="1300" dirty="0">
                <a:solidFill>
                  <a:srgbClr val="6B4A46"/>
                </a:solidFill>
                <a:latin typeface="Calibri" pitchFamily="34" charset="0"/>
                <a:ea typeface="Calibri" pitchFamily="34" charset="-122"/>
                <a:cs typeface="Calibri" pitchFamily="34" charset="-120"/>
              </a:rPr>
              <a:t>A leaked key becomes a leaked account</a:t>
            </a:r>
            <a:endParaRPr lang="en-US" sz="1300" dirty="0"/>
          </a:p>
        </p:txBody>
      </p:sp>
      <p:sp>
        <p:nvSpPr>
          <p:cNvPr id="10" name="Shape 7"/>
          <p:cNvSpPr/>
          <p:nvPr/>
        </p:nvSpPr>
        <p:spPr>
          <a:xfrm>
            <a:off x="6245352" y="1874520"/>
            <a:ext cx="5074920" cy="2834640"/>
          </a:xfrm>
          <a:prstGeom prst="roundRect">
            <a:avLst>
              <a:gd name="adj" fmla="val 1613"/>
            </a:avLst>
          </a:prstGeom>
          <a:solidFill>
            <a:srgbClr val="E7EDE6"/>
          </a:solidFill>
          <a:ln w="12700">
            <a:solidFill>
              <a:srgbClr val="E7EDE6"/>
            </a:solidFill>
            <a:prstDash val="solid"/>
          </a:ln>
        </p:spPr>
      </p:sp>
      <p:sp>
        <p:nvSpPr>
          <p:cNvPr id="11" name="Text 8"/>
          <p:cNvSpPr/>
          <p:nvPr/>
        </p:nvSpPr>
        <p:spPr>
          <a:xfrm>
            <a:off x="6611112" y="2103120"/>
            <a:ext cx="4389120" cy="384048"/>
          </a:xfrm>
          <a:prstGeom prst="rect">
            <a:avLst/>
          </a:prstGeom>
          <a:noFill/>
          <a:ln/>
        </p:spPr>
        <p:txBody>
          <a:bodyPr wrap="square" rtlCol="0" anchor="ctr"/>
          <a:lstStyle/>
          <a:p>
            <a:pPr indent="0" marL="0">
              <a:buNone/>
            </a:pPr>
            <a:r>
              <a:rPr lang="en-US" sz="1750" dirty="0">
                <a:solidFill>
                  <a:srgbClr val="1C1E1C"/>
                </a:solidFill>
                <a:latin typeface="Georgia" pitchFamily="34" charset="0"/>
                <a:ea typeface="Georgia" pitchFamily="34" charset="-122"/>
                <a:cs typeface="Georgia" pitchFamily="34" charset="-120"/>
              </a:rPr>
              <a:t>What this project does</a:t>
            </a:r>
            <a:endParaRPr lang="en-US" sz="1750" dirty="0"/>
          </a:p>
        </p:txBody>
      </p:sp>
      <p:sp>
        <p:nvSpPr>
          <p:cNvPr id="12" name="Text 9"/>
          <p:cNvSpPr/>
          <p:nvPr/>
        </p:nvSpPr>
        <p:spPr>
          <a:xfrm>
            <a:off x="6611112" y="2578608"/>
            <a:ext cx="4343400" cy="1920240"/>
          </a:xfrm>
          <a:prstGeom prst="rect">
            <a:avLst/>
          </a:prstGeom>
          <a:noFill/>
          <a:ln/>
        </p:spPr>
        <p:txBody>
          <a:bodyPr wrap="square" rtlCol="0" anchor="t"/>
          <a:lstStyle/>
          <a:p>
            <a:pPr marL="228600" indent="-228600">
              <a:lnSpc>
                <a:spcPts val="2600"/>
              </a:lnSpc>
              <a:buSzPct val="100000"/>
              <a:buChar char="•"/>
            </a:pPr>
            <a:r>
              <a:rPr lang="en-US" sz="1300" dirty="0">
                <a:solidFill>
                  <a:srgbClr val="3C5248"/>
                </a:solidFill>
                <a:latin typeface="Calibri" pitchFamily="34" charset="0"/>
                <a:ea typeface="Calibri" pitchFamily="34" charset="-122"/>
                <a:cs typeface="Calibri" pitchFamily="34" charset="-120"/>
              </a:rPr>
              <a:t>Block Public Access stays switched on</a:t>
            </a:r>
            <a:endParaRPr lang="en-US" sz="1300" dirty="0"/>
          </a:p>
          <a:p>
            <a:pPr marL="228600" indent="-228600">
              <a:lnSpc>
                <a:spcPts val="2600"/>
              </a:lnSpc>
              <a:buSzPct val="100000"/>
              <a:buChar char="•"/>
            </a:pPr>
            <a:r>
              <a:rPr lang="en-US" sz="1300" dirty="0">
                <a:solidFill>
                  <a:srgbClr val="3C5248"/>
                </a:solidFill>
                <a:latin typeface="Calibri" pitchFamily="34" charset="0"/>
                <a:ea typeface="Calibri" pitchFamily="34" charset="-122"/>
                <a:cs typeface="Calibri" pitchFamily="34" charset="-120"/>
              </a:rPr>
              <a:t>An IAM role gives rotating credentials</a:t>
            </a:r>
            <a:endParaRPr lang="en-US" sz="1300" dirty="0"/>
          </a:p>
          <a:p>
            <a:pPr marL="228600" indent="-228600">
              <a:lnSpc>
                <a:spcPts val="2600"/>
              </a:lnSpc>
              <a:buSzPct val="100000"/>
              <a:buChar char="•"/>
            </a:pPr>
            <a:r>
              <a:rPr lang="en-US" sz="1300" dirty="0">
                <a:solidFill>
                  <a:srgbClr val="3C5248"/>
                </a:solidFill>
                <a:latin typeface="Calibri" pitchFamily="34" charset="0"/>
                <a:ea typeface="Calibri" pitchFamily="34" charset="-122"/>
                <a:cs typeface="Calibri" pitchFamily="34" charset="-120"/>
              </a:rPr>
              <a:t>Presigned URLs expire after one hour</a:t>
            </a:r>
            <a:endParaRPr lang="en-US" sz="1300" dirty="0"/>
          </a:p>
          <a:p>
            <a:pPr marL="228600" indent="-228600">
              <a:lnSpc>
                <a:spcPts val="2600"/>
              </a:lnSpc>
              <a:buSzPct val="100000"/>
              <a:buChar char="•"/>
            </a:pPr>
            <a:r>
              <a:rPr lang="en-US" sz="1300" dirty="0">
                <a:solidFill>
                  <a:srgbClr val="3C5248"/>
                </a:solidFill>
                <a:latin typeface="Calibri" pitchFamily="34" charset="0"/>
                <a:ea typeface="Calibri" pitchFamily="34" charset="-122"/>
                <a:cs typeface="Calibri" pitchFamily="34" charset="-120"/>
              </a:rPr>
              <a:t>The role may only touch the uploads prefix</a:t>
            </a:r>
            <a:endParaRPr lang="en-US" sz="1300" dirty="0"/>
          </a:p>
        </p:txBody>
      </p:sp>
      <p:sp>
        <p:nvSpPr>
          <p:cNvPr id="13" name="Shape 10"/>
          <p:cNvSpPr/>
          <p:nvPr/>
        </p:nvSpPr>
        <p:spPr>
          <a:xfrm>
            <a:off x="868680" y="5166360"/>
            <a:ext cx="10454335" cy="0"/>
          </a:xfrm>
          <a:prstGeom prst="line">
            <a:avLst/>
          </a:prstGeom>
          <a:noFill/>
          <a:ln w="9525">
            <a:solidFill>
              <a:srgbClr val="DFDAD0"/>
            </a:solidFill>
            <a:prstDash val="solid"/>
          </a:ln>
        </p:spPr>
      </p:sp>
      <p:sp>
        <p:nvSpPr>
          <p:cNvPr id="14" name="Text 11"/>
          <p:cNvSpPr/>
          <p:nvPr/>
        </p:nvSpPr>
        <p:spPr>
          <a:xfrm>
            <a:off x="868680" y="5349240"/>
            <a:ext cx="10454335" cy="457200"/>
          </a:xfrm>
          <a:prstGeom prst="rect">
            <a:avLst/>
          </a:prstGeom>
          <a:noFill/>
          <a:ln/>
        </p:spPr>
        <p:txBody>
          <a:bodyPr wrap="square" rtlCol="0" anchor="ctr"/>
          <a:lstStyle/>
          <a:p>
            <a:pPr indent="0" marL="0">
              <a:buNone/>
            </a:pPr>
            <a:r>
              <a:rPr lang="en-US" sz="1500" i="1" dirty="0">
                <a:solidFill>
                  <a:srgbClr val="2F5D62"/>
                </a:solidFill>
                <a:latin typeface="Georgia" pitchFamily="34" charset="0"/>
                <a:ea typeface="Georgia" pitchFamily="34" charset="-122"/>
                <a:cs typeface="Georgia" pitchFamily="34" charset="-120"/>
              </a:rPr>
              <a:t>Least privilege in one line: the application may read, write and delete under uploads/*, and nothing else in the account.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3" name="Text 0"/>
          <p:cNvSpPr/>
          <p:nvPr/>
        </p:nvSpPr>
        <p:spPr>
          <a:xfrm>
            <a:off x="868680" y="475488"/>
            <a:ext cx="7315200" cy="256032"/>
          </a:xfrm>
          <a:prstGeom prst="rect">
            <a:avLst/>
          </a:prstGeom>
          <a:noFill/>
          <a:ln/>
        </p:spPr>
        <p:txBody>
          <a:bodyPr wrap="square" rtlCol="0" anchor="ctr"/>
          <a:lstStyle/>
          <a:p>
            <a:pPr indent="0" marL="0">
              <a:buNone/>
            </a:pPr>
            <a:r>
              <a:rPr lang="en-US" sz="1050" b="1" spc="240" kern="0" dirty="0">
                <a:solidFill>
                  <a:srgbClr val="2F5D62"/>
                </a:solidFill>
                <a:latin typeface="Calibri" pitchFamily="34" charset="0"/>
                <a:ea typeface="Calibri" pitchFamily="34" charset="-122"/>
                <a:cs typeface="Calibri" pitchFamily="34" charset="-120"/>
              </a:rPr>
              <a:t>IMPLEMENTATION</a:t>
            </a:r>
            <a:endParaRPr lang="en-US" sz="1050" dirty="0"/>
          </a:p>
        </p:txBody>
      </p:sp>
      <p:sp>
        <p:nvSpPr>
          <p:cNvPr id="4" name="Text 1"/>
          <p:cNvSpPr/>
          <p:nvPr/>
        </p:nvSpPr>
        <p:spPr>
          <a:xfrm>
            <a:off x="868680" y="768096"/>
            <a:ext cx="9539935" cy="621792"/>
          </a:xfrm>
          <a:prstGeom prst="rect">
            <a:avLst/>
          </a:prstGeom>
          <a:noFill/>
          <a:ln/>
        </p:spPr>
        <p:txBody>
          <a:bodyPr wrap="square" rtlCol="0" anchor="ctr"/>
          <a:lstStyle/>
          <a:p>
            <a:pPr indent="0" marL="0">
              <a:buNone/>
            </a:pPr>
            <a:r>
              <a:rPr lang="en-US" sz="3000" dirty="0">
                <a:solidFill>
                  <a:srgbClr val="1C1E1C"/>
                </a:solidFill>
                <a:latin typeface="Georgia" pitchFamily="34" charset="0"/>
                <a:ea typeface="Georgia" pitchFamily="34" charset="-122"/>
                <a:cs typeface="Georgia" pitchFamily="34" charset="-120"/>
              </a:rPr>
              <a:t>The part that talks to AWS</a:t>
            </a:r>
            <a:endParaRPr lang="en-US" sz="3000" dirty="0"/>
          </a:p>
        </p:txBody>
      </p:sp>
      <p:sp>
        <p:nvSpPr>
          <p:cNvPr id="5" name="Text 2"/>
          <p:cNvSpPr/>
          <p:nvPr/>
        </p:nvSpPr>
        <p:spPr>
          <a:xfrm>
            <a:off x="10500055" y="868680"/>
            <a:ext cx="822960" cy="365760"/>
          </a:xfrm>
          <a:prstGeom prst="rect">
            <a:avLst/>
          </a:prstGeom>
          <a:noFill/>
          <a:ln/>
        </p:spPr>
        <p:txBody>
          <a:bodyPr wrap="square" rtlCol="0" anchor="ctr"/>
          <a:lstStyle/>
          <a:p>
            <a:pPr algn="r" indent="0" marL="0">
              <a:buNone/>
            </a:pPr>
            <a:r>
              <a:rPr lang="en-US" sz="1100" spc="100" kern="0" dirty="0">
                <a:solidFill>
                  <a:srgbClr val="6E756F"/>
                </a:solidFill>
                <a:latin typeface="Calibri" pitchFamily="34" charset="0"/>
                <a:ea typeface="Calibri" pitchFamily="34" charset="-122"/>
                <a:cs typeface="Calibri" pitchFamily="34" charset="-120"/>
              </a:rPr>
              <a:t>08</a:t>
            </a:r>
            <a:endParaRPr lang="en-US" sz="1100" dirty="0"/>
          </a:p>
        </p:txBody>
      </p:sp>
      <p:sp>
        <p:nvSpPr>
          <p:cNvPr id="6" name="Shape 3"/>
          <p:cNvSpPr/>
          <p:nvPr/>
        </p:nvSpPr>
        <p:spPr>
          <a:xfrm>
            <a:off x="868680" y="1572768"/>
            <a:ext cx="10454335" cy="0"/>
          </a:xfrm>
          <a:prstGeom prst="line">
            <a:avLst/>
          </a:prstGeom>
          <a:noFill/>
          <a:ln w="9525">
            <a:solidFill>
              <a:srgbClr val="DFDAD0"/>
            </a:solidFill>
            <a:prstDash val="solid"/>
          </a:ln>
        </p:spPr>
      </p:sp>
      <p:sp>
        <p:nvSpPr>
          <p:cNvPr id="7" name="Shape 4"/>
          <p:cNvSpPr/>
          <p:nvPr/>
        </p:nvSpPr>
        <p:spPr>
          <a:xfrm>
            <a:off x="868680" y="1874520"/>
            <a:ext cx="6400800" cy="3931920"/>
          </a:xfrm>
          <a:prstGeom prst="roundRect">
            <a:avLst>
              <a:gd name="adj" fmla="val 1163"/>
            </a:avLst>
          </a:prstGeom>
          <a:solidFill>
            <a:srgbClr val="EFEDE7"/>
          </a:solidFill>
          <a:ln w="12700">
            <a:solidFill>
              <a:srgbClr val="EFEDE7"/>
            </a:solidFill>
            <a:prstDash val="solid"/>
          </a:ln>
        </p:spPr>
      </p:sp>
      <p:sp>
        <p:nvSpPr>
          <p:cNvPr id="8" name="Text 5"/>
          <p:cNvSpPr/>
          <p:nvPr/>
        </p:nvSpPr>
        <p:spPr>
          <a:xfrm>
            <a:off x="1188720" y="2103120"/>
            <a:ext cx="5852160" cy="3474720"/>
          </a:xfrm>
          <a:prstGeom prst="rect">
            <a:avLst/>
          </a:prstGeom>
          <a:noFill/>
          <a:ln/>
        </p:spPr>
        <p:txBody>
          <a:bodyPr wrap="square" rtlCol="0" anchor="t"/>
          <a:lstStyle/>
          <a:p>
            <a:pPr indent="0" marL="0">
              <a:lnSpc>
                <a:spcPts val="1800"/>
              </a:lnSpc>
              <a:buNone/>
            </a:pPr>
            <a:r>
              <a:rPr lang="en-US" sz="1150" dirty="0">
                <a:solidFill>
                  <a:srgbClr val="2E3330"/>
                </a:solidFill>
                <a:latin typeface="Consolas" pitchFamily="34" charset="0"/>
                <a:ea typeface="Consolas" pitchFamily="34" charset="-122"/>
                <a:cs typeface="Consolas" pitchFamily="34" charset="-120"/>
              </a:rPr>
              <a:t>s3 = boto3.client("s3", region_name=REGION)</a:t>
            </a:r>
            <a:endParaRPr lang="en-US" sz="1150" dirty="0"/>
          </a:p>
          <a:p>
            <a:pPr indent="0" marL="0">
              <a:lnSpc>
                <a:spcPts val="1800"/>
              </a:lnSpc>
              <a:buNone/>
            </a:pPr>
            <a:endParaRPr lang="en-US" sz="1150" dirty="0"/>
          </a:p>
          <a:p>
            <a:pPr indent="0" marL="0">
              <a:lnSpc>
                <a:spcPts val="1800"/>
              </a:lnSpc>
              <a:buNone/>
            </a:pPr>
            <a:r>
              <a:rPr lang="en-US" sz="1150" dirty="0">
                <a:solidFill>
                  <a:srgbClr val="2E3330"/>
                </a:solidFill>
                <a:latin typeface="Consolas" pitchFamily="34" charset="0"/>
                <a:ea typeface="Consolas" pitchFamily="34" charset="-122"/>
                <a:cs typeface="Consolas" pitchFamily="34" charset="-120"/>
              </a:rPr>
              <a:t># upload: stream the file into the bucket</a:t>
            </a:r>
            <a:endParaRPr lang="en-US" sz="1150" dirty="0"/>
          </a:p>
          <a:p>
            <a:pPr indent="0" marL="0">
              <a:lnSpc>
                <a:spcPts val="1800"/>
              </a:lnSpc>
              <a:buNone/>
            </a:pPr>
            <a:r>
              <a:rPr lang="en-US" sz="1150" dirty="0">
                <a:solidFill>
                  <a:srgbClr val="2E3330"/>
                </a:solidFill>
                <a:latin typeface="Consolas" pitchFamily="34" charset="0"/>
                <a:ea typeface="Consolas" pitchFamily="34" charset="-122"/>
                <a:cs typeface="Consolas" pitchFamily="34" charset="-120"/>
              </a:rPr>
              <a:t>key = f"uploads/{stamp}-{uuid4().hex[:6]}{ext}"</a:t>
            </a:r>
            <a:endParaRPr lang="en-US" sz="1150" dirty="0"/>
          </a:p>
          <a:p>
            <a:pPr indent="0" marL="0">
              <a:lnSpc>
                <a:spcPts val="1800"/>
              </a:lnSpc>
              <a:buNone/>
            </a:pPr>
            <a:r>
              <a:rPr lang="en-US" sz="1150" dirty="0">
                <a:solidFill>
                  <a:srgbClr val="2E3330"/>
                </a:solidFill>
                <a:latin typeface="Consolas" pitchFamily="34" charset="0"/>
                <a:ea typeface="Consolas" pitchFamily="34" charset="-122"/>
                <a:cs typeface="Consolas" pitchFamily="34" charset="-120"/>
              </a:rPr>
              <a:t>s3.upload_fileobj(file, BUCKET, key,</a:t>
            </a:r>
            <a:endParaRPr lang="en-US" sz="1150" dirty="0"/>
          </a:p>
          <a:p>
            <a:pPr indent="0" marL="0">
              <a:lnSpc>
                <a:spcPts val="1800"/>
              </a:lnSpc>
              <a:buNone/>
            </a:pPr>
            <a:r>
              <a:rPr lang="en-US" sz="1150" dirty="0">
                <a:solidFill>
                  <a:srgbClr val="2E3330"/>
                </a:solidFill>
                <a:latin typeface="Consolas" pitchFamily="34" charset="0"/>
                <a:ea typeface="Consolas" pitchFamily="34" charset="-122"/>
                <a:cs typeface="Consolas" pitchFamily="34" charset="-120"/>
              </a:rPr>
              <a:t>        ExtraArgs={"ContentType": file.mimetype})</a:t>
            </a:r>
            <a:endParaRPr lang="en-US" sz="1150" dirty="0"/>
          </a:p>
          <a:p>
            <a:pPr indent="0" marL="0">
              <a:lnSpc>
                <a:spcPts val="1800"/>
              </a:lnSpc>
              <a:buNone/>
            </a:pPr>
            <a:endParaRPr lang="en-US" sz="1150" dirty="0"/>
          </a:p>
          <a:p>
            <a:pPr indent="0" marL="0">
              <a:lnSpc>
                <a:spcPts val="1800"/>
              </a:lnSpc>
              <a:buNone/>
            </a:pPr>
            <a:r>
              <a:rPr lang="en-US" sz="1150" dirty="0">
                <a:solidFill>
                  <a:srgbClr val="2E3330"/>
                </a:solidFill>
                <a:latin typeface="Consolas" pitchFamily="34" charset="0"/>
                <a:ea typeface="Consolas" pitchFamily="34" charset="-122"/>
                <a:cs typeface="Consolas" pitchFamily="34" charset="-120"/>
              </a:rPr>
              <a:t># list: every object, newest first</a:t>
            </a:r>
            <a:endParaRPr lang="en-US" sz="1150" dirty="0"/>
          </a:p>
          <a:p>
            <a:pPr indent="0" marL="0">
              <a:lnSpc>
                <a:spcPts val="1800"/>
              </a:lnSpc>
              <a:buNone/>
            </a:pPr>
            <a:r>
              <a:rPr lang="en-US" sz="1150" dirty="0">
                <a:solidFill>
                  <a:srgbClr val="2E3330"/>
                </a:solidFill>
                <a:latin typeface="Consolas" pitchFamily="34" charset="0"/>
                <a:ea typeface="Consolas" pitchFamily="34" charset="-122"/>
                <a:cs typeface="Consolas" pitchFamily="34" charset="-120"/>
              </a:rPr>
              <a:t>objects = s3.list_objects_v2(Bucket=BUCKET,</a:t>
            </a:r>
            <a:endParaRPr lang="en-US" sz="1150" dirty="0"/>
          </a:p>
          <a:p>
            <a:pPr indent="0" marL="0">
              <a:lnSpc>
                <a:spcPts val="1800"/>
              </a:lnSpc>
              <a:buNone/>
            </a:pPr>
            <a:r>
              <a:rPr lang="en-US" sz="1150" dirty="0">
                <a:solidFill>
                  <a:srgbClr val="2E3330"/>
                </a:solidFill>
                <a:latin typeface="Consolas" pitchFamily="34" charset="0"/>
                <a:ea typeface="Consolas" pitchFamily="34" charset="-122"/>
                <a:cs typeface="Consolas" pitchFamily="34" charset="-120"/>
              </a:rPr>
              <a:t>               Prefix="uploads/")["Contents"]</a:t>
            </a:r>
            <a:endParaRPr lang="en-US" sz="1150" dirty="0"/>
          </a:p>
          <a:p>
            <a:pPr indent="0" marL="0">
              <a:lnSpc>
                <a:spcPts val="1800"/>
              </a:lnSpc>
              <a:buNone/>
            </a:pPr>
            <a:endParaRPr lang="en-US" sz="1150" dirty="0"/>
          </a:p>
          <a:p>
            <a:pPr indent="0" marL="0">
              <a:lnSpc>
                <a:spcPts val="1800"/>
              </a:lnSpc>
              <a:buNone/>
            </a:pPr>
            <a:r>
              <a:rPr lang="en-US" sz="1150" dirty="0">
                <a:solidFill>
                  <a:srgbClr val="2E3330"/>
                </a:solidFill>
                <a:latin typeface="Consolas" pitchFamily="34" charset="0"/>
                <a:ea typeface="Consolas" pitchFamily="34" charset="-122"/>
                <a:cs typeface="Consolas" pitchFamily="34" charset="-120"/>
              </a:rPr>
              <a:t># view: a link that works for one hour</a:t>
            </a:r>
            <a:endParaRPr lang="en-US" sz="1150" dirty="0"/>
          </a:p>
          <a:p>
            <a:pPr indent="0" marL="0">
              <a:lnSpc>
                <a:spcPts val="1800"/>
              </a:lnSpc>
              <a:buNone/>
            </a:pPr>
            <a:r>
              <a:rPr lang="en-US" sz="1150" dirty="0">
                <a:solidFill>
                  <a:srgbClr val="2E3330"/>
                </a:solidFill>
                <a:latin typeface="Consolas" pitchFamily="34" charset="0"/>
                <a:ea typeface="Consolas" pitchFamily="34" charset="-122"/>
                <a:cs typeface="Consolas" pitchFamily="34" charset="-120"/>
              </a:rPr>
              <a:t>url = s3.generate_presigned_url("get_object",</a:t>
            </a:r>
            <a:endParaRPr lang="en-US" sz="1150" dirty="0"/>
          </a:p>
          <a:p>
            <a:pPr indent="0" marL="0">
              <a:lnSpc>
                <a:spcPts val="1800"/>
              </a:lnSpc>
              <a:buNone/>
            </a:pPr>
            <a:r>
              <a:rPr lang="en-US" sz="1150" dirty="0">
                <a:solidFill>
                  <a:srgbClr val="2E3330"/>
                </a:solidFill>
                <a:latin typeface="Consolas" pitchFamily="34" charset="0"/>
                <a:ea typeface="Consolas" pitchFamily="34" charset="-122"/>
                <a:cs typeface="Consolas" pitchFamily="34" charset="-120"/>
              </a:rPr>
              <a:t>        Params={"Bucket": BUCKET, "Key": key},</a:t>
            </a:r>
            <a:endParaRPr lang="en-US" sz="1150" dirty="0"/>
          </a:p>
          <a:p>
            <a:pPr indent="0" marL="0">
              <a:lnSpc>
                <a:spcPts val="1800"/>
              </a:lnSpc>
              <a:buNone/>
            </a:pPr>
            <a:r>
              <a:rPr lang="en-US" sz="1150" dirty="0">
                <a:solidFill>
                  <a:srgbClr val="2E3330"/>
                </a:solidFill>
                <a:latin typeface="Consolas" pitchFamily="34" charset="0"/>
                <a:ea typeface="Consolas" pitchFamily="34" charset="-122"/>
                <a:cs typeface="Consolas" pitchFamily="34" charset="-120"/>
              </a:rPr>
              <a:t>        ExpiresIn=3600)</a:t>
            </a:r>
            <a:endParaRPr lang="en-US" sz="1150" dirty="0"/>
          </a:p>
        </p:txBody>
      </p:sp>
      <p:sp>
        <p:nvSpPr>
          <p:cNvPr id="9" name="Text 6"/>
          <p:cNvSpPr/>
          <p:nvPr/>
        </p:nvSpPr>
        <p:spPr>
          <a:xfrm>
            <a:off x="7680960" y="1920240"/>
            <a:ext cx="3657600" cy="329184"/>
          </a:xfrm>
          <a:prstGeom prst="rect">
            <a:avLst/>
          </a:prstGeom>
          <a:noFill/>
          <a:ln/>
        </p:spPr>
        <p:txBody>
          <a:bodyPr wrap="square" rtlCol="0" anchor="ctr"/>
          <a:lstStyle/>
          <a:p>
            <a:pPr indent="0" marL="0">
              <a:buNone/>
            </a:pPr>
            <a:r>
              <a:rPr lang="en-US" sz="1550" dirty="0">
                <a:solidFill>
                  <a:srgbClr val="1C1E1C"/>
                </a:solidFill>
                <a:latin typeface="Georgia" pitchFamily="34" charset="0"/>
                <a:ea typeface="Georgia" pitchFamily="34" charset="-122"/>
                <a:cs typeface="Georgia" pitchFamily="34" charset="-120"/>
              </a:rPr>
              <a:t>boto3</a:t>
            </a:r>
            <a:endParaRPr lang="en-US" sz="1550" dirty="0"/>
          </a:p>
        </p:txBody>
      </p:sp>
      <p:sp>
        <p:nvSpPr>
          <p:cNvPr id="10" name="Text 7"/>
          <p:cNvSpPr/>
          <p:nvPr/>
        </p:nvSpPr>
        <p:spPr>
          <a:xfrm>
            <a:off x="7680960" y="2267712"/>
            <a:ext cx="3657600" cy="566928"/>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The AWS SDK for Python. Each call is one HTTPS request to the S3 API.</a:t>
            </a:r>
            <a:endParaRPr lang="en-US" sz="1250" dirty="0"/>
          </a:p>
        </p:txBody>
      </p:sp>
      <p:sp>
        <p:nvSpPr>
          <p:cNvPr id="11" name="Shape 8"/>
          <p:cNvSpPr/>
          <p:nvPr/>
        </p:nvSpPr>
        <p:spPr>
          <a:xfrm>
            <a:off x="7680960" y="2871216"/>
            <a:ext cx="3657600" cy="0"/>
          </a:xfrm>
          <a:prstGeom prst="line">
            <a:avLst/>
          </a:prstGeom>
          <a:noFill/>
          <a:ln w="9525">
            <a:solidFill>
              <a:srgbClr val="DFDAD0"/>
            </a:solidFill>
            <a:prstDash val="solid"/>
          </a:ln>
        </p:spPr>
      </p:sp>
      <p:sp>
        <p:nvSpPr>
          <p:cNvPr id="12" name="Text 9"/>
          <p:cNvSpPr/>
          <p:nvPr/>
        </p:nvSpPr>
        <p:spPr>
          <a:xfrm>
            <a:off x="7680960" y="2999232"/>
            <a:ext cx="3657600" cy="329184"/>
          </a:xfrm>
          <a:prstGeom prst="rect">
            <a:avLst/>
          </a:prstGeom>
          <a:noFill/>
          <a:ln/>
        </p:spPr>
        <p:txBody>
          <a:bodyPr wrap="square" rtlCol="0" anchor="ctr"/>
          <a:lstStyle/>
          <a:p>
            <a:pPr indent="0" marL="0">
              <a:buNone/>
            </a:pPr>
            <a:r>
              <a:rPr lang="en-US" sz="1550" dirty="0">
                <a:solidFill>
                  <a:srgbClr val="1C1E1C"/>
                </a:solidFill>
                <a:latin typeface="Georgia" pitchFamily="34" charset="0"/>
                <a:ea typeface="Georgia" pitchFamily="34" charset="-122"/>
                <a:cs typeface="Georgia" pitchFamily="34" charset="-120"/>
              </a:rPr>
              <a:t>No credentials</a:t>
            </a:r>
            <a:endParaRPr lang="en-US" sz="1550" dirty="0"/>
          </a:p>
        </p:txBody>
      </p:sp>
      <p:sp>
        <p:nvSpPr>
          <p:cNvPr id="13" name="Text 10"/>
          <p:cNvSpPr/>
          <p:nvPr/>
        </p:nvSpPr>
        <p:spPr>
          <a:xfrm>
            <a:off x="7680960" y="3346704"/>
            <a:ext cx="3657600" cy="566928"/>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boto3 finds the instance role on its own. No access key in this file.</a:t>
            </a:r>
            <a:endParaRPr lang="en-US" sz="1250" dirty="0"/>
          </a:p>
        </p:txBody>
      </p:sp>
      <p:sp>
        <p:nvSpPr>
          <p:cNvPr id="14" name="Shape 11"/>
          <p:cNvSpPr/>
          <p:nvPr/>
        </p:nvSpPr>
        <p:spPr>
          <a:xfrm>
            <a:off x="7680960" y="3950208"/>
            <a:ext cx="3657600" cy="0"/>
          </a:xfrm>
          <a:prstGeom prst="line">
            <a:avLst/>
          </a:prstGeom>
          <a:noFill/>
          <a:ln w="9525">
            <a:solidFill>
              <a:srgbClr val="DFDAD0"/>
            </a:solidFill>
            <a:prstDash val="solid"/>
          </a:ln>
        </p:spPr>
      </p:sp>
      <p:sp>
        <p:nvSpPr>
          <p:cNvPr id="15" name="Text 12"/>
          <p:cNvSpPr/>
          <p:nvPr/>
        </p:nvSpPr>
        <p:spPr>
          <a:xfrm>
            <a:off x="7680960" y="4078224"/>
            <a:ext cx="3657600" cy="329184"/>
          </a:xfrm>
          <a:prstGeom prst="rect">
            <a:avLst/>
          </a:prstGeom>
          <a:noFill/>
          <a:ln/>
        </p:spPr>
        <p:txBody>
          <a:bodyPr wrap="square" rtlCol="0" anchor="ctr"/>
          <a:lstStyle/>
          <a:p>
            <a:pPr indent="0" marL="0">
              <a:buNone/>
            </a:pPr>
            <a:r>
              <a:rPr lang="en-US" sz="1550" dirty="0">
                <a:solidFill>
                  <a:srgbClr val="1C1E1C"/>
                </a:solidFill>
                <a:latin typeface="Georgia" pitchFamily="34" charset="0"/>
                <a:ea typeface="Georgia" pitchFamily="34" charset="-122"/>
                <a:cs typeface="Georgia" pitchFamily="34" charset="-120"/>
              </a:rPr>
              <a:t>Unique keys</a:t>
            </a:r>
            <a:endParaRPr lang="en-US" sz="1550" dirty="0"/>
          </a:p>
        </p:txBody>
      </p:sp>
      <p:sp>
        <p:nvSpPr>
          <p:cNvPr id="16" name="Text 13"/>
          <p:cNvSpPr/>
          <p:nvPr/>
        </p:nvSpPr>
        <p:spPr>
          <a:xfrm>
            <a:off x="7680960" y="4425696"/>
            <a:ext cx="3657600" cy="566928"/>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A timestamp plus six random characters, so uploads cannot collide.</a:t>
            </a:r>
            <a:endParaRPr lang="en-US" sz="1250" dirty="0"/>
          </a:p>
        </p:txBody>
      </p:sp>
      <p:sp>
        <p:nvSpPr>
          <p:cNvPr id="17" name="Shape 14"/>
          <p:cNvSpPr/>
          <p:nvPr/>
        </p:nvSpPr>
        <p:spPr>
          <a:xfrm>
            <a:off x="7680960" y="5029200"/>
            <a:ext cx="3657600" cy="0"/>
          </a:xfrm>
          <a:prstGeom prst="line">
            <a:avLst/>
          </a:prstGeom>
          <a:noFill/>
          <a:ln w="9525">
            <a:solidFill>
              <a:srgbClr val="DFDAD0"/>
            </a:solidFill>
            <a:prstDash val="solid"/>
          </a:ln>
        </p:spPr>
      </p:sp>
      <p:sp>
        <p:nvSpPr>
          <p:cNvPr id="18" name="Text 15"/>
          <p:cNvSpPr/>
          <p:nvPr/>
        </p:nvSpPr>
        <p:spPr>
          <a:xfrm>
            <a:off x="7680960" y="5157216"/>
            <a:ext cx="3657600" cy="329184"/>
          </a:xfrm>
          <a:prstGeom prst="rect">
            <a:avLst/>
          </a:prstGeom>
          <a:noFill/>
          <a:ln/>
        </p:spPr>
        <p:txBody>
          <a:bodyPr wrap="square" rtlCol="0" anchor="ctr"/>
          <a:lstStyle/>
          <a:p>
            <a:pPr indent="0" marL="0">
              <a:buNone/>
            </a:pPr>
            <a:r>
              <a:rPr lang="en-US" sz="1550" dirty="0">
                <a:solidFill>
                  <a:srgbClr val="1C1E1C"/>
                </a:solidFill>
                <a:latin typeface="Georgia" pitchFamily="34" charset="0"/>
                <a:ea typeface="Georgia" pitchFamily="34" charset="-122"/>
                <a:cs typeface="Georgia" pitchFamily="34" charset="-120"/>
              </a:rPr>
              <a:t>Expiring links</a:t>
            </a:r>
            <a:endParaRPr lang="en-US" sz="1550" dirty="0"/>
          </a:p>
        </p:txBody>
      </p:sp>
      <p:sp>
        <p:nvSpPr>
          <p:cNvPr id="19" name="Text 16"/>
          <p:cNvSpPr/>
          <p:nvPr/>
        </p:nvSpPr>
        <p:spPr>
          <a:xfrm>
            <a:off x="7680960" y="5504688"/>
            <a:ext cx="3657600" cy="566928"/>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A presigned URL is the bucket signing a time-limited permission.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3" name="Text 0"/>
          <p:cNvSpPr/>
          <p:nvPr/>
        </p:nvSpPr>
        <p:spPr>
          <a:xfrm>
            <a:off x="868680" y="475488"/>
            <a:ext cx="7315200" cy="256032"/>
          </a:xfrm>
          <a:prstGeom prst="rect">
            <a:avLst/>
          </a:prstGeom>
          <a:noFill/>
          <a:ln/>
        </p:spPr>
        <p:txBody>
          <a:bodyPr wrap="square" rtlCol="0" anchor="ctr"/>
          <a:lstStyle/>
          <a:p>
            <a:pPr indent="0" marL="0">
              <a:buNone/>
            </a:pPr>
            <a:r>
              <a:rPr lang="en-US" sz="1050" b="1" spc="240" kern="0" dirty="0">
                <a:solidFill>
                  <a:srgbClr val="2F5D62"/>
                </a:solidFill>
                <a:latin typeface="Calibri" pitchFamily="34" charset="0"/>
                <a:ea typeface="Calibri" pitchFamily="34" charset="-122"/>
                <a:cs typeface="Calibri" pitchFamily="34" charset="-120"/>
              </a:rPr>
              <a:t>DEMONSTRATION</a:t>
            </a:r>
            <a:endParaRPr lang="en-US" sz="1050" dirty="0"/>
          </a:p>
        </p:txBody>
      </p:sp>
      <p:sp>
        <p:nvSpPr>
          <p:cNvPr id="4" name="Text 1"/>
          <p:cNvSpPr/>
          <p:nvPr/>
        </p:nvSpPr>
        <p:spPr>
          <a:xfrm>
            <a:off x="868680" y="768096"/>
            <a:ext cx="9539935" cy="621792"/>
          </a:xfrm>
          <a:prstGeom prst="rect">
            <a:avLst/>
          </a:prstGeom>
          <a:noFill/>
          <a:ln/>
        </p:spPr>
        <p:txBody>
          <a:bodyPr wrap="square" rtlCol="0" anchor="ctr"/>
          <a:lstStyle/>
          <a:p>
            <a:pPr indent="0" marL="0">
              <a:buNone/>
            </a:pPr>
            <a:r>
              <a:rPr lang="en-US" sz="3000" dirty="0">
                <a:solidFill>
                  <a:srgbClr val="1C1E1C"/>
                </a:solidFill>
                <a:latin typeface="Georgia" pitchFamily="34" charset="0"/>
                <a:ea typeface="Georgia" pitchFamily="34" charset="-122"/>
                <a:cs typeface="Georgia" pitchFamily="34" charset="-120"/>
              </a:rPr>
              <a:t>The running application</a:t>
            </a:r>
            <a:endParaRPr lang="en-US" sz="3000" dirty="0"/>
          </a:p>
        </p:txBody>
      </p:sp>
      <p:sp>
        <p:nvSpPr>
          <p:cNvPr id="5" name="Text 2"/>
          <p:cNvSpPr/>
          <p:nvPr/>
        </p:nvSpPr>
        <p:spPr>
          <a:xfrm>
            <a:off x="10500055" y="868680"/>
            <a:ext cx="822960" cy="365760"/>
          </a:xfrm>
          <a:prstGeom prst="rect">
            <a:avLst/>
          </a:prstGeom>
          <a:noFill/>
          <a:ln/>
        </p:spPr>
        <p:txBody>
          <a:bodyPr wrap="square" rtlCol="0" anchor="ctr"/>
          <a:lstStyle/>
          <a:p>
            <a:pPr algn="r" indent="0" marL="0">
              <a:buNone/>
            </a:pPr>
            <a:r>
              <a:rPr lang="en-US" sz="1100" spc="100" kern="0" dirty="0">
                <a:solidFill>
                  <a:srgbClr val="6E756F"/>
                </a:solidFill>
                <a:latin typeface="Calibri" pitchFamily="34" charset="0"/>
                <a:ea typeface="Calibri" pitchFamily="34" charset="-122"/>
                <a:cs typeface="Calibri" pitchFamily="34" charset="-120"/>
              </a:rPr>
              <a:t>09</a:t>
            </a:r>
            <a:endParaRPr lang="en-US" sz="1100" dirty="0"/>
          </a:p>
        </p:txBody>
      </p:sp>
      <p:sp>
        <p:nvSpPr>
          <p:cNvPr id="6" name="Shape 3"/>
          <p:cNvSpPr/>
          <p:nvPr/>
        </p:nvSpPr>
        <p:spPr>
          <a:xfrm>
            <a:off x="868680" y="1572768"/>
            <a:ext cx="10454335" cy="0"/>
          </a:xfrm>
          <a:prstGeom prst="line">
            <a:avLst/>
          </a:prstGeom>
          <a:noFill/>
          <a:ln w="9525">
            <a:solidFill>
              <a:srgbClr val="DFDAD0"/>
            </a:solidFill>
            <a:prstDash val="solid"/>
          </a:ln>
        </p:spPr>
      </p:sp>
      <p:pic>
        <p:nvPicPr>
          <p:cNvPr id="7" name="Image 0" descr="/Users/psudokit/.t3/projects/prisha-project/docs/screenshots/gallery.png">    </p:cNvPr>
          <p:cNvPicPr>
            <a:picLocks noChangeAspect="1"/>
          </p:cNvPicPr>
          <p:nvPr/>
        </p:nvPicPr>
        <p:blipFill>
          <a:blip r:embed="rId1"/>
          <a:stretch>
            <a:fillRect/>
          </a:stretch>
        </p:blipFill>
        <p:spPr>
          <a:xfrm>
            <a:off x="868680" y="1920240"/>
            <a:ext cx="7040880" cy="2916936"/>
          </a:xfrm>
          <a:prstGeom prst="rect">
            <a:avLst/>
          </a:prstGeom>
        </p:spPr>
      </p:pic>
      <p:sp>
        <p:nvSpPr>
          <p:cNvPr id="8" name="Text 4"/>
          <p:cNvSpPr/>
          <p:nvPr/>
        </p:nvSpPr>
        <p:spPr>
          <a:xfrm>
            <a:off x="868680" y="4937760"/>
            <a:ext cx="7040880" cy="320040"/>
          </a:xfrm>
          <a:prstGeom prst="rect">
            <a:avLst/>
          </a:prstGeom>
          <a:noFill/>
          <a:ln/>
        </p:spPr>
        <p:txBody>
          <a:bodyPr wrap="square" rtlCol="0" anchor="ctr"/>
          <a:lstStyle/>
          <a:p>
            <a:pPr indent="0" marL="0">
              <a:buNone/>
            </a:pPr>
            <a:r>
              <a:rPr lang="en-US" sz="1200" i="1" dirty="0">
                <a:solidFill>
                  <a:srgbClr val="6E756F"/>
                </a:solidFill>
                <a:latin typeface="Calibri" pitchFamily="34" charset="0"/>
                <a:ea typeface="Calibri" pitchFamily="34" charset="-122"/>
                <a:cs typeface="Calibri" pitchFamily="34" charset="-120"/>
              </a:rPr>
              <a:t>The gallery with four objects in the bucket.</a:t>
            </a:r>
            <a:endParaRPr lang="en-US" sz="1200" dirty="0"/>
          </a:p>
        </p:txBody>
      </p:sp>
      <p:sp>
        <p:nvSpPr>
          <p:cNvPr id="9" name="Text 5"/>
          <p:cNvSpPr/>
          <p:nvPr/>
        </p:nvSpPr>
        <p:spPr>
          <a:xfrm>
            <a:off x="8366760" y="1965960"/>
            <a:ext cx="2971800" cy="292608"/>
          </a:xfrm>
          <a:prstGeom prst="rect">
            <a:avLst/>
          </a:prstGeom>
          <a:noFill/>
          <a:ln/>
        </p:spPr>
        <p:txBody>
          <a:bodyPr wrap="square" rtlCol="0" anchor="ctr"/>
          <a:lstStyle/>
          <a:p>
            <a:pPr indent="0" marL="0">
              <a:buNone/>
            </a:pPr>
            <a:r>
              <a:rPr lang="en-US" sz="1500" dirty="0">
                <a:solidFill>
                  <a:srgbClr val="2F5D62"/>
                </a:solidFill>
                <a:latin typeface="Georgia" pitchFamily="34" charset="0"/>
                <a:ea typeface="Georgia" pitchFamily="34" charset="-122"/>
                <a:cs typeface="Georgia" pitchFamily="34" charset="-120"/>
              </a:rPr>
              <a:t>Upload</a:t>
            </a:r>
            <a:endParaRPr lang="en-US" sz="1500" dirty="0"/>
          </a:p>
        </p:txBody>
      </p:sp>
      <p:sp>
        <p:nvSpPr>
          <p:cNvPr id="10" name="Text 6"/>
          <p:cNvSpPr/>
          <p:nvPr/>
        </p:nvSpPr>
        <p:spPr>
          <a:xfrm>
            <a:off x="8366760" y="2258568"/>
            <a:ext cx="2971800" cy="438912"/>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The panel posts the file straight to S3.</a:t>
            </a:r>
            <a:endParaRPr lang="en-US" sz="1250" dirty="0"/>
          </a:p>
        </p:txBody>
      </p:sp>
      <p:sp>
        <p:nvSpPr>
          <p:cNvPr id="11" name="Text 7"/>
          <p:cNvSpPr/>
          <p:nvPr/>
        </p:nvSpPr>
        <p:spPr>
          <a:xfrm>
            <a:off x="8366760" y="2734056"/>
            <a:ext cx="2971800" cy="292608"/>
          </a:xfrm>
          <a:prstGeom prst="rect">
            <a:avLst/>
          </a:prstGeom>
          <a:noFill/>
          <a:ln/>
        </p:spPr>
        <p:txBody>
          <a:bodyPr wrap="square" rtlCol="0" anchor="ctr"/>
          <a:lstStyle/>
          <a:p>
            <a:pPr indent="0" marL="0">
              <a:buNone/>
            </a:pPr>
            <a:r>
              <a:rPr lang="en-US" sz="1500" dirty="0">
                <a:solidFill>
                  <a:srgbClr val="2F5D62"/>
                </a:solidFill>
                <a:latin typeface="Georgia" pitchFamily="34" charset="0"/>
                <a:ea typeface="Georgia" pitchFamily="34" charset="-122"/>
                <a:cs typeface="Georgia" pitchFamily="34" charset="-120"/>
              </a:rPr>
              <a:t>Cards</a:t>
            </a:r>
            <a:endParaRPr lang="en-US" sz="1500" dirty="0"/>
          </a:p>
        </p:txBody>
      </p:sp>
      <p:sp>
        <p:nvSpPr>
          <p:cNvPr id="12" name="Text 8"/>
          <p:cNvSpPr/>
          <p:nvPr/>
        </p:nvSpPr>
        <p:spPr>
          <a:xfrm>
            <a:off x="8366760" y="3026664"/>
            <a:ext cx="2971800" cy="438912"/>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Each card is one object in the bucket.</a:t>
            </a:r>
            <a:endParaRPr lang="en-US" sz="1250" dirty="0"/>
          </a:p>
        </p:txBody>
      </p:sp>
      <p:sp>
        <p:nvSpPr>
          <p:cNvPr id="13" name="Text 9"/>
          <p:cNvSpPr/>
          <p:nvPr/>
        </p:nvSpPr>
        <p:spPr>
          <a:xfrm>
            <a:off x="8366760" y="3502152"/>
            <a:ext cx="2971800" cy="292608"/>
          </a:xfrm>
          <a:prstGeom prst="rect">
            <a:avLst/>
          </a:prstGeom>
          <a:noFill/>
          <a:ln/>
        </p:spPr>
        <p:txBody>
          <a:bodyPr wrap="square" rtlCol="0" anchor="ctr"/>
          <a:lstStyle/>
          <a:p>
            <a:pPr indent="0" marL="0">
              <a:buNone/>
            </a:pPr>
            <a:r>
              <a:rPr lang="en-US" sz="1500" dirty="0">
                <a:solidFill>
                  <a:srgbClr val="2F5D62"/>
                </a:solidFill>
                <a:latin typeface="Georgia" pitchFamily="34" charset="0"/>
                <a:ea typeface="Georgia" pitchFamily="34" charset="-122"/>
                <a:cs typeface="Georgia" pitchFamily="34" charset="-120"/>
              </a:rPr>
              <a:t>Metadata</a:t>
            </a:r>
            <a:endParaRPr lang="en-US" sz="1500" dirty="0"/>
          </a:p>
        </p:txBody>
      </p:sp>
      <p:sp>
        <p:nvSpPr>
          <p:cNvPr id="14" name="Text 10"/>
          <p:cNvSpPr/>
          <p:nvPr/>
        </p:nvSpPr>
        <p:spPr>
          <a:xfrm>
            <a:off x="8366760" y="3794760"/>
            <a:ext cx="2971800" cy="438912"/>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Size and time are read from S3 itself.</a:t>
            </a:r>
            <a:endParaRPr lang="en-US" sz="1250" dirty="0"/>
          </a:p>
        </p:txBody>
      </p:sp>
      <p:sp>
        <p:nvSpPr>
          <p:cNvPr id="15" name="Text 11"/>
          <p:cNvSpPr/>
          <p:nvPr/>
        </p:nvSpPr>
        <p:spPr>
          <a:xfrm>
            <a:off x="8366760" y="4270248"/>
            <a:ext cx="2971800" cy="292608"/>
          </a:xfrm>
          <a:prstGeom prst="rect">
            <a:avLst/>
          </a:prstGeom>
          <a:noFill/>
          <a:ln/>
        </p:spPr>
        <p:txBody>
          <a:bodyPr wrap="square" rtlCol="0" anchor="ctr"/>
          <a:lstStyle/>
          <a:p>
            <a:pPr indent="0" marL="0">
              <a:buNone/>
            </a:pPr>
            <a:r>
              <a:rPr lang="en-US" sz="1500" dirty="0">
                <a:solidFill>
                  <a:srgbClr val="2F5D62"/>
                </a:solidFill>
                <a:latin typeface="Georgia" pitchFamily="34" charset="0"/>
                <a:ea typeface="Georgia" pitchFamily="34" charset="-122"/>
                <a:cs typeface="Georgia" pitchFamily="34" charset="-120"/>
              </a:rPr>
              <a:t>Thumbnails</a:t>
            </a:r>
            <a:endParaRPr lang="en-US" sz="1500" dirty="0"/>
          </a:p>
        </p:txBody>
      </p:sp>
      <p:sp>
        <p:nvSpPr>
          <p:cNvPr id="16" name="Text 12"/>
          <p:cNvSpPr/>
          <p:nvPr/>
        </p:nvSpPr>
        <p:spPr>
          <a:xfrm>
            <a:off x="8366760" y="4562856"/>
            <a:ext cx="2971800" cy="438912"/>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Loaded over presigned URLs.</a:t>
            </a:r>
            <a:endParaRPr lang="en-US" sz="1250" dirty="0"/>
          </a:p>
        </p:txBody>
      </p:sp>
      <p:sp>
        <p:nvSpPr>
          <p:cNvPr id="17" name="Text 13"/>
          <p:cNvSpPr/>
          <p:nvPr/>
        </p:nvSpPr>
        <p:spPr>
          <a:xfrm>
            <a:off x="8366760" y="5038344"/>
            <a:ext cx="2971800" cy="292608"/>
          </a:xfrm>
          <a:prstGeom prst="rect">
            <a:avLst/>
          </a:prstGeom>
          <a:noFill/>
          <a:ln/>
        </p:spPr>
        <p:txBody>
          <a:bodyPr wrap="square" rtlCol="0" anchor="ctr"/>
          <a:lstStyle/>
          <a:p>
            <a:pPr indent="0" marL="0">
              <a:buNone/>
            </a:pPr>
            <a:r>
              <a:rPr lang="en-US" sz="1500" dirty="0">
                <a:solidFill>
                  <a:srgbClr val="2F5D62"/>
                </a:solidFill>
                <a:latin typeface="Georgia" pitchFamily="34" charset="0"/>
                <a:ea typeface="Georgia" pitchFamily="34" charset="-122"/>
                <a:cs typeface="Georgia" pitchFamily="34" charset="-120"/>
              </a:rPr>
              <a:t>Delete</a:t>
            </a:r>
            <a:endParaRPr lang="en-US" sz="1500" dirty="0"/>
          </a:p>
        </p:txBody>
      </p:sp>
      <p:sp>
        <p:nvSpPr>
          <p:cNvPr id="18" name="Text 14"/>
          <p:cNvSpPr/>
          <p:nvPr/>
        </p:nvSpPr>
        <p:spPr>
          <a:xfrm>
            <a:off x="8366760" y="5330952"/>
            <a:ext cx="2971800" cy="438912"/>
          </a:xfrm>
          <a:prstGeom prst="rect">
            <a:avLst/>
          </a:prstGeom>
          <a:noFill/>
          <a:ln/>
        </p:spPr>
        <p:txBody>
          <a:bodyPr wrap="square" rtlCol="0" anchor="t"/>
          <a:lstStyle/>
          <a:p>
            <a:pPr indent="0" marL="0">
              <a:lnSpc>
                <a:spcPts val="1800"/>
              </a:lnSpc>
              <a:buNone/>
            </a:pPr>
            <a:r>
              <a:rPr lang="en-US" sz="1250" dirty="0">
                <a:solidFill>
                  <a:srgbClr val="4D5551"/>
                </a:solidFill>
                <a:latin typeface="Calibri" pitchFamily="34" charset="0"/>
                <a:ea typeface="Calibri" pitchFamily="34" charset="-122"/>
                <a:cs typeface="Calibri" pitchFamily="34" charset="-120"/>
              </a:rPr>
              <a:t>Removes the object, not a database row.</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3" name="Text 0"/>
          <p:cNvSpPr/>
          <p:nvPr/>
        </p:nvSpPr>
        <p:spPr>
          <a:xfrm>
            <a:off x="868680" y="475488"/>
            <a:ext cx="7315200" cy="256032"/>
          </a:xfrm>
          <a:prstGeom prst="rect">
            <a:avLst/>
          </a:prstGeom>
          <a:noFill/>
          <a:ln/>
        </p:spPr>
        <p:txBody>
          <a:bodyPr wrap="square" rtlCol="0" anchor="ctr"/>
          <a:lstStyle/>
          <a:p>
            <a:pPr indent="0" marL="0">
              <a:buNone/>
            </a:pPr>
            <a:r>
              <a:rPr lang="en-US" sz="1050" b="1" spc="240" kern="0" dirty="0">
                <a:solidFill>
                  <a:srgbClr val="2F5D62"/>
                </a:solidFill>
                <a:latin typeface="Calibri" pitchFamily="34" charset="0"/>
                <a:ea typeface="Calibri" pitchFamily="34" charset="-122"/>
                <a:cs typeface="Calibri" pitchFamily="34" charset="-120"/>
              </a:rPr>
              <a:t>DEPLOYMENT</a:t>
            </a:r>
            <a:endParaRPr lang="en-US" sz="1050" dirty="0"/>
          </a:p>
        </p:txBody>
      </p:sp>
      <p:sp>
        <p:nvSpPr>
          <p:cNvPr id="4" name="Text 1"/>
          <p:cNvSpPr/>
          <p:nvPr/>
        </p:nvSpPr>
        <p:spPr>
          <a:xfrm>
            <a:off x="868680" y="768096"/>
            <a:ext cx="9539935" cy="621792"/>
          </a:xfrm>
          <a:prstGeom prst="rect">
            <a:avLst/>
          </a:prstGeom>
          <a:noFill/>
          <a:ln/>
        </p:spPr>
        <p:txBody>
          <a:bodyPr wrap="square" rtlCol="0" anchor="ctr"/>
          <a:lstStyle/>
          <a:p>
            <a:pPr indent="0" marL="0">
              <a:buNone/>
            </a:pPr>
            <a:r>
              <a:rPr lang="en-US" sz="3000" dirty="0">
                <a:solidFill>
                  <a:srgbClr val="1C1E1C"/>
                </a:solidFill>
                <a:latin typeface="Georgia" pitchFamily="34" charset="0"/>
                <a:ea typeface="Georgia" pitchFamily="34" charset="-122"/>
                <a:cs typeface="Georgia" pitchFamily="34" charset="-120"/>
              </a:rPr>
              <a:t>Getting it onto AWS</a:t>
            </a:r>
            <a:endParaRPr lang="en-US" sz="3000" dirty="0"/>
          </a:p>
        </p:txBody>
      </p:sp>
      <p:sp>
        <p:nvSpPr>
          <p:cNvPr id="5" name="Text 2"/>
          <p:cNvSpPr/>
          <p:nvPr/>
        </p:nvSpPr>
        <p:spPr>
          <a:xfrm>
            <a:off x="10500055" y="868680"/>
            <a:ext cx="822960" cy="365760"/>
          </a:xfrm>
          <a:prstGeom prst="rect">
            <a:avLst/>
          </a:prstGeom>
          <a:noFill/>
          <a:ln/>
        </p:spPr>
        <p:txBody>
          <a:bodyPr wrap="square" rtlCol="0" anchor="ctr"/>
          <a:lstStyle/>
          <a:p>
            <a:pPr algn="r" indent="0" marL="0">
              <a:buNone/>
            </a:pPr>
            <a:r>
              <a:rPr lang="en-US" sz="1100" spc="100" kern="0" dirty="0">
                <a:solidFill>
                  <a:srgbClr val="6E756F"/>
                </a:solidFill>
                <a:latin typeface="Calibri" pitchFamily="34" charset="0"/>
                <a:ea typeface="Calibri" pitchFamily="34" charset="-122"/>
                <a:cs typeface="Calibri" pitchFamily="34" charset="-120"/>
              </a:rPr>
              <a:t>10</a:t>
            </a:r>
            <a:endParaRPr lang="en-US" sz="1100" dirty="0"/>
          </a:p>
        </p:txBody>
      </p:sp>
      <p:sp>
        <p:nvSpPr>
          <p:cNvPr id="6" name="Shape 3"/>
          <p:cNvSpPr/>
          <p:nvPr/>
        </p:nvSpPr>
        <p:spPr>
          <a:xfrm>
            <a:off x="868680" y="1572768"/>
            <a:ext cx="10454335" cy="0"/>
          </a:xfrm>
          <a:prstGeom prst="line">
            <a:avLst/>
          </a:prstGeom>
          <a:noFill/>
          <a:ln w="9525">
            <a:solidFill>
              <a:srgbClr val="DFDAD0"/>
            </a:solidFill>
            <a:prstDash val="solid"/>
          </a:ln>
        </p:spPr>
      </p:sp>
      <p:sp>
        <p:nvSpPr>
          <p:cNvPr id="7" name="Text 4"/>
          <p:cNvSpPr/>
          <p:nvPr/>
        </p:nvSpPr>
        <p:spPr>
          <a:xfrm>
            <a:off x="868680" y="2057400"/>
            <a:ext cx="1097280" cy="457200"/>
          </a:xfrm>
          <a:prstGeom prst="rect">
            <a:avLst/>
          </a:prstGeom>
          <a:noFill/>
          <a:ln/>
        </p:spPr>
        <p:txBody>
          <a:bodyPr wrap="square" rtlCol="0" anchor="ctr"/>
          <a:lstStyle/>
          <a:p>
            <a:pPr indent="0" marL="0">
              <a:buNone/>
            </a:pPr>
            <a:r>
              <a:rPr lang="en-US" sz="2500" dirty="0">
                <a:solidFill>
                  <a:srgbClr val="2F5D62"/>
                </a:solidFill>
                <a:latin typeface="Georgia" pitchFamily="34" charset="0"/>
                <a:ea typeface="Georgia" pitchFamily="34" charset="-122"/>
                <a:cs typeface="Georgia" pitchFamily="34" charset="-120"/>
              </a:rPr>
              <a:t>01</a:t>
            </a:r>
            <a:endParaRPr lang="en-US" sz="2500" dirty="0"/>
          </a:p>
        </p:txBody>
      </p:sp>
      <p:sp>
        <p:nvSpPr>
          <p:cNvPr id="8" name="Shape 5"/>
          <p:cNvSpPr/>
          <p:nvPr/>
        </p:nvSpPr>
        <p:spPr>
          <a:xfrm>
            <a:off x="868680" y="2651760"/>
            <a:ext cx="1874520" cy="0"/>
          </a:xfrm>
          <a:prstGeom prst="line">
            <a:avLst/>
          </a:prstGeom>
          <a:noFill/>
          <a:ln w="9525">
            <a:solidFill>
              <a:srgbClr val="DFDAD0"/>
            </a:solidFill>
            <a:prstDash val="solid"/>
          </a:ln>
        </p:spPr>
      </p:sp>
      <p:sp>
        <p:nvSpPr>
          <p:cNvPr id="9" name="Text 6"/>
          <p:cNvSpPr/>
          <p:nvPr/>
        </p:nvSpPr>
        <p:spPr>
          <a:xfrm>
            <a:off x="868680" y="2788920"/>
            <a:ext cx="1783080" cy="658368"/>
          </a:xfrm>
          <a:prstGeom prst="rect">
            <a:avLst/>
          </a:prstGeom>
          <a:noFill/>
          <a:ln/>
        </p:spPr>
        <p:txBody>
          <a:bodyPr wrap="square" rtlCol="0" anchor="t"/>
          <a:lstStyle/>
          <a:p>
            <a:pPr indent="0" marL="0">
              <a:lnSpc>
                <a:spcPts val="2000"/>
              </a:lnSpc>
              <a:buNone/>
            </a:pPr>
            <a:r>
              <a:rPr lang="en-US" sz="1500" dirty="0">
                <a:solidFill>
                  <a:srgbClr val="1C1E1C"/>
                </a:solidFill>
                <a:latin typeface="Georgia" pitchFamily="34" charset="0"/>
                <a:ea typeface="Georgia" pitchFamily="34" charset="-122"/>
                <a:cs typeface="Georgia" pitchFamily="34" charset="-120"/>
              </a:rPr>
              <a:t>Create the bucket</a:t>
            </a:r>
            <a:endParaRPr lang="en-US" sz="1500" dirty="0"/>
          </a:p>
        </p:txBody>
      </p:sp>
      <p:sp>
        <p:nvSpPr>
          <p:cNvPr id="10" name="Text 7"/>
          <p:cNvSpPr/>
          <p:nvPr/>
        </p:nvSpPr>
        <p:spPr>
          <a:xfrm>
            <a:off x="868680" y="3474720"/>
            <a:ext cx="1783080" cy="1280160"/>
          </a:xfrm>
          <a:prstGeom prst="rect">
            <a:avLst/>
          </a:prstGeom>
          <a:noFill/>
          <a:ln/>
        </p:spPr>
        <p:txBody>
          <a:bodyPr wrap="square" rtlCol="0" anchor="t"/>
          <a:lstStyle/>
          <a:p>
            <a:pPr indent="0" marL="0">
              <a:lnSpc>
                <a:spcPts val="1700"/>
              </a:lnSpc>
              <a:buNone/>
            </a:pPr>
            <a:r>
              <a:rPr lang="en-US" sz="1200" dirty="0">
                <a:solidFill>
                  <a:srgbClr val="4D5551"/>
                </a:solidFill>
                <a:latin typeface="Calibri" pitchFamily="34" charset="0"/>
                <a:ea typeface="Calibri" pitchFamily="34" charset="-122"/>
                <a:cs typeface="Calibri" pitchFamily="34" charset="-120"/>
              </a:rPr>
              <a:t>Block Public Access stays switched on.</a:t>
            </a:r>
            <a:endParaRPr lang="en-US" sz="1200" dirty="0"/>
          </a:p>
        </p:txBody>
      </p:sp>
      <p:sp>
        <p:nvSpPr>
          <p:cNvPr id="11" name="Text 8"/>
          <p:cNvSpPr/>
          <p:nvPr/>
        </p:nvSpPr>
        <p:spPr>
          <a:xfrm>
            <a:off x="3017520" y="2057400"/>
            <a:ext cx="1097280" cy="457200"/>
          </a:xfrm>
          <a:prstGeom prst="rect">
            <a:avLst/>
          </a:prstGeom>
          <a:noFill/>
          <a:ln/>
        </p:spPr>
        <p:txBody>
          <a:bodyPr wrap="square" rtlCol="0" anchor="ctr"/>
          <a:lstStyle/>
          <a:p>
            <a:pPr indent="0" marL="0">
              <a:buNone/>
            </a:pPr>
            <a:r>
              <a:rPr lang="en-US" sz="2500" dirty="0">
                <a:solidFill>
                  <a:srgbClr val="2F5D62"/>
                </a:solidFill>
                <a:latin typeface="Georgia" pitchFamily="34" charset="0"/>
                <a:ea typeface="Georgia" pitchFamily="34" charset="-122"/>
                <a:cs typeface="Georgia" pitchFamily="34" charset="-120"/>
              </a:rPr>
              <a:t>02</a:t>
            </a:r>
            <a:endParaRPr lang="en-US" sz="2500" dirty="0"/>
          </a:p>
        </p:txBody>
      </p:sp>
      <p:sp>
        <p:nvSpPr>
          <p:cNvPr id="12" name="Shape 9"/>
          <p:cNvSpPr/>
          <p:nvPr/>
        </p:nvSpPr>
        <p:spPr>
          <a:xfrm>
            <a:off x="3017520" y="2651760"/>
            <a:ext cx="1874520" cy="0"/>
          </a:xfrm>
          <a:prstGeom prst="line">
            <a:avLst/>
          </a:prstGeom>
          <a:noFill/>
          <a:ln w="9525">
            <a:solidFill>
              <a:srgbClr val="DFDAD0"/>
            </a:solidFill>
            <a:prstDash val="solid"/>
          </a:ln>
        </p:spPr>
      </p:sp>
      <p:sp>
        <p:nvSpPr>
          <p:cNvPr id="13" name="Text 10"/>
          <p:cNvSpPr/>
          <p:nvPr/>
        </p:nvSpPr>
        <p:spPr>
          <a:xfrm>
            <a:off x="3017520" y="2788920"/>
            <a:ext cx="1783080" cy="658368"/>
          </a:xfrm>
          <a:prstGeom prst="rect">
            <a:avLst/>
          </a:prstGeom>
          <a:noFill/>
          <a:ln/>
        </p:spPr>
        <p:txBody>
          <a:bodyPr wrap="square" rtlCol="0" anchor="t"/>
          <a:lstStyle/>
          <a:p>
            <a:pPr indent="0" marL="0">
              <a:lnSpc>
                <a:spcPts val="2000"/>
              </a:lnSpc>
              <a:buNone/>
            </a:pPr>
            <a:r>
              <a:rPr lang="en-US" sz="1500" dirty="0">
                <a:solidFill>
                  <a:srgbClr val="1C1E1C"/>
                </a:solidFill>
                <a:latin typeface="Georgia" pitchFamily="34" charset="0"/>
                <a:ea typeface="Georgia" pitchFamily="34" charset="-122"/>
                <a:cs typeface="Georgia" pitchFamily="34" charset="-120"/>
              </a:rPr>
              <a:t>Create the IAM role</a:t>
            </a:r>
            <a:endParaRPr lang="en-US" sz="1500" dirty="0"/>
          </a:p>
        </p:txBody>
      </p:sp>
      <p:sp>
        <p:nvSpPr>
          <p:cNvPr id="14" name="Text 11"/>
          <p:cNvSpPr/>
          <p:nvPr/>
        </p:nvSpPr>
        <p:spPr>
          <a:xfrm>
            <a:off x="3017520" y="3474720"/>
            <a:ext cx="1783080" cy="1280160"/>
          </a:xfrm>
          <a:prstGeom prst="rect">
            <a:avLst/>
          </a:prstGeom>
          <a:noFill/>
          <a:ln/>
        </p:spPr>
        <p:txBody>
          <a:bodyPr wrap="square" rtlCol="0" anchor="t"/>
          <a:lstStyle/>
          <a:p>
            <a:pPr indent="0" marL="0">
              <a:lnSpc>
                <a:spcPts val="1700"/>
              </a:lnSpc>
              <a:buNone/>
            </a:pPr>
            <a:r>
              <a:rPr lang="en-US" sz="1200" dirty="0">
                <a:solidFill>
                  <a:srgbClr val="4D5551"/>
                </a:solidFill>
                <a:latin typeface="Calibri" pitchFamily="34" charset="0"/>
                <a:ea typeface="Calibri" pitchFamily="34" charset="-122"/>
                <a:cs typeface="Calibri" pitchFamily="34" charset="-120"/>
              </a:rPr>
              <a:t>Read, write and delete on uploads/* only.</a:t>
            </a:r>
            <a:endParaRPr lang="en-US" sz="1200" dirty="0"/>
          </a:p>
        </p:txBody>
      </p:sp>
      <p:sp>
        <p:nvSpPr>
          <p:cNvPr id="15" name="Text 12"/>
          <p:cNvSpPr/>
          <p:nvPr/>
        </p:nvSpPr>
        <p:spPr>
          <a:xfrm>
            <a:off x="5166360" y="2057400"/>
            <a:ext cx="1097280" cy="457200"/>
          </a:xfrm>
          <a:prstGeom prst="rect">
            <a:avLst/>
          </a:prstGeom>
          <a:noFill/>
          <a:ln/>
        </p:spPr>
        <p:txBody>
          <a:bodyPr wrap="square" rtlCol="0" anchor="ctr"/>
          <a:lstStyle/>
          <a:p>
            <a:pPr indent="0" marL="0">
              <a:buNone/>
            </a:pPr>
            <a:r>
              <a:rPr lang="en-US" sz="2500" dirty="0">
                <a:solidFill>
                  <a:srgbClr val="2F5D62"/>
                </a:solidFill>
                <a:latin typeface="Georgia" pitchFamily="34" charset="0"/>
                <a:ea typeface="Georgia" pitchFamily="34" charset="-122"/>
                <a:cs typeface="Georgia" pitchFamily="34" charset="-120"/>
              </a:rPr>
              <a:t>03</a:t>
            </a:r>
            <a:endParaRPr lang="en-US" sz="2500" dirty="0"/>
          </a:p>
        </p:txBody>
      </p:sp>
      <p:sp>
        <p:nvSpPr>
          <p:cNvPr id="16" name="Shape 13"/>
          <p:cNvSpPr/>
          <p:nvPr/>
        </p:nvSpPr>
        <p:spPr>
          <a:xfrm>
            <a:off x="5166360" y="2651760"/>
            <a:ext cx="1874520" cy="0"/>
          </a:xfrm>
          <a:prstGeom prst="line">
            <a:avLst/>
          </a:prstGeom>
          <a:noFill/>
          <a:ln w="9525">
            <a:solidFill>
              <a:srgbClr val="DFDAD0"/>
            </a:solidFill>
            <a:prstDash val="solid"/>
          </a:ln>
        </p:spPr>
      </p:sp>
      <p:sp>
        <p:nvSpPr>
          <p:cNvPr id="17" name="Text 14"/>
          <p:cNvSpPr/>
          <p:nvPr/>
        </p:nvSpPr>
        <p:spPr>
          <a:xfrm>
            <a:off x="5166360" y="2788920"/>
            <a:ext cx="1783080" cy="658368"/>
          </a:xfrm>
          <a:prstGeom prst="rect">
            <a:avLst/>
          </a:prstGeom>
          <a:noFill/>
          <a:ln/>
        </p:spPr>
        <p:txBody>
          <a:bodyPr wrap="square" rtlCol="0" anchor="t"/>
          <a:lstStyle/>
          <a:p>
            <a:pPr indent="0" marL="0">
              <a:lnSpc>
                <a:spcPts val="2000"/>
              </a:lnSpc>
              <a:buNone/>
            </a:pPr>
            <a:r>
              <a:rPr lang="en-US" sz="1500" dirty="0">
                <a:solidFill>
                  <a:srgbClr val="1C1E1C"/>
                </a:solidFill>
                <a:latin typeface="Georgia" pitchFamily="34" charset="0"/>
                <a:ea typeface="Georgia" pitchFamily="34" charset="-122"/>
                <a:cs typeface="Georgia" pitchFamily="34" charset="-120"/>
              </a:rPr>
              <a:t>Launch t3.micro</a:t>
            </a:r>
            <a:endParaRPr lang="en-US" sz="1500" dirty="0"/>
          </a:p>
        </p:txBody>
      </p:sp>
      <p:sp>
        <p:nvSpPr>
          <p:cNvPr id="18" name="Text 15"/>
          <p:cNvSpPr/>
          <p:nvPr/>
        </p:nvSpPr>
        <p:spPr>
          <a:xfrm>
            <a:off x="5166360" y="3474720"/>
            <a:ext cx="1783080" cy="1280160"/>
          </a:xfrm>
          <a:prstGeom prst="rect">
            <a:avLst/>
          </a:prstGeom>
          <a:noFill/>
          <a:ln/>
        </p:spPr>
        <p:txBody>
          <a:bodyPr wrap="square" rtlCol="0" anchor="t"/>
          <a:lstStyle/>
          <a:p>
            <a:pPr indent="0" marL="0">
              <a:lnSpc>
                <a:spcPts val="1700"/>
              </a:lnSpc>
              <a:buNone/>
            </a:pPr>
            <a:r>
              <a:rPr lang="en-US" sz="1200" dirty="0">
                <a:solidFill>
                  <a:srgbClr val="4D5551"/>
                </a:solidFill>
                <a:latin typeface="Calibri" pitchFamily="34" charset="0"/>
                <a:ea typeface="Calibri" pitchFamily="34" charset="-122"/>
                <a:cs typeface="Calibri" pitchFamily="34" charset="-120"/>
              </a:rPr>
              <a:t>Attach the role, open ports 22 and 8080.</a:t>
            </a:r>
            <a:endParaRPr lang="en-US" sz="1200" dirty="0"/>
          </a:p>
        </p:txBody>
      </p:sp>
      <p:sp>
        <p:nvSpPr>
          <p:cNvPr id="19" name="Text 16"/>
          <p:cNvSpPr/>
          <p:nvPr/>
        </p:nvSpPr>
        <p:spPr>
          <a:xfrm>
            <a:off x="7315200" y="2057400"/>
            <a:ext cx="1097280" cy="457200"/>
          </a:xfrm>
          <a:prstGeom prst="rect">
            <a:avLst/>
          </a:prstGeom>
          <a:noFill/>
          <a:ln/>
        </p:spPr>
        <p:txBody>
          <a:bodyPr wrap="square" rtlCol="0" anchor="ctr"/>
          <a:lstStyle/>
          <a:p>
            <a:pPr indent="0" marL="0">
              <a:buNone/>
            </a:pPr>
            <a:r>
              <a:rPr lang="en-US" sz="2500" dirty="0">
                <a:solidFill>
                  <a:srgbClr val="2F5D62"/>
                </a:solidFill>
                <a:latin typeface="Georgia" pitchFamily="34" charset="0"/>
                <a:ea typeface="Georgia" pitchFamily="34" charset="-122"/>
                <a:cs typeface="Georgia" pitchFamily="34" charset="-120"/>
              </a:rPr>
              <a:t>04</a:t>
            </a:r>
            <a:endParaRPr lang="en-US" sz="2500" dirty="0"/>
          </a:p>
        </p:txBody>
      </p:sp>
      <p:sp>
        <p:nvSpPr>
          <p:cNvPr id="20" name="Shape 17"/>
          <p:cNvSpPr/>
          <p:nvPr/>
        </p:nvSpPr>
        <p:spPr>
          <a:xfrm>
            <a:off x="7315200" y="2651760"/>
            <a:ext cx="1874520" cy="0"/>
          </a:xfrm>
          <a:prstGeom prst="line">
            <a:avLst/>
          </a:prstGeom>
          <a:noFill/>
          <a:ln w="9525">
            <a:solidFill>
              <a:srgbClr val="DFDAD0"/>
            </a:solidFill>
            <a:prstDash val="solid"/>
          </a:ln>
        </p:spPr>
      </p:sp>
      <p:sp>
        <p:nvSpPr>
          <p:cNvPr id="21" name="Text 18"/>
          <p:cNvSpPr/>
          <p:nvPr/>
        </p:nvSpPr>
        <p:spPr>
          <a:xfrm>
            <a:off x="7315200" y="2788920"/>
            <a:ext cx="1783080" cy="658368"/>
          </a:xfrm>
          <a:prstGeom prst="rect">
            <a:avLst/>
          </a:prstGeom>
          <a:noFill/>
          <a:ln/>
        </p:spPr>
        <p:txBody>
          <a:bodyPr wrap="square" rtlCol="0" anchor="t"/>
          <a:lstStyle/>
          <a:p>
            <a:pPr indent="0" marL="0">
              <a:lnSpc>
                <a:spcPts val="2000"/>
              </a:lnSpc>
              <a:buNone/>
            </a:pPr>
            <a:r>
              <a:rPr lang="en-US" sz="1500" dirty="0">
                <a:solidFill>
                  <a:srgbClr val="1C1E1C"/>
                </a:solidFill>
                <a:latin typeface="Georgia" pitchFamily="34" charset="0"/>
                <a:ea typeface="Georgia" pitchFamily="34" charset="-122"/>
                <a:cs typeface="Georgia" pitchFamily="34" charset="-120"/>
              </a:rPr>
              <a:t>Install and run</a:t>
            </a:r>
            <a:endParaRPr lang="en-US" sz="1500" dirty="0"/>
          </a:p>
        </p:txBody>
      </p:sp>
      <p:sp>
        <p:nvSpPr>
          <p:cNvPr id="22" name="Text 19"/>
          <p:cNvSpPr/>
          <p:nvPr/>
        </p:nvSpPr>
        <p:spPr>
          <a:xfrm>
            <a:off x="7315200" y="3474720"/>
            <a:ext cx="1783080" cy="1280160"/>
          </a:xfrm>
          <a:prstGeom prst="rect">
            <a:avLst/>
          </a:prstGeom>
          <a:noFill/>
          <a:ln/>
        </p:spPr>
        <p:txBody>
          <a:bodyPr wrap="square" rtlCol="0" anchor="t"/>
          <a:lstStyle/>
          <a:p>
            <a:pPr indent="0" marL="0">
              <a:lnSpc>
                <a:spcPts val="1700"/>
              </a:lnSpc>
              <a:buNone/>
            </a:pPr>
            <a:r>
              <a:rPr lang="en-US" sz="1200" dirty="0">
                <a:solidFill>
                  <a:srgbClr val="4D5551"/>
                </a:solidFill>
                <a:latin typeface="Calibri" pitchFamily="34" charset="0"/>
                <a:ea typeface="Calibri" pitchFamily="34" charset="-122"/>
                <a:cs typeface="Calibri" pitchFamily="34" charset="-120"/>
              </a:rPr>
              <a:t>Set the bucket name, start the app with gunicorn.</a:t>
            </a:r>
            <a:endParaRPr lang="en-US" sz="1200" dirty="0"/>
          </a:p>
        </p:txBody>
      </p:sp>
      <p:sp>
        <p:nvSpPr>
          <p:cNvPr id="23" name="Text 20"/>
          <p:cNvSpPr/>
          <p:nvPr/>
        </p:nvSpPr>
        <p:spPr>
          <a:xfrm>
            <a:off x="9464040" y="2057400"/>
            <a:ext cx="1097280" cy="457200"/>
          </a:xfrm>
          <a:prstGeom prst="rect">
            <a:avLst/>
          </a:prstGeom>
          <a:noFill/>
          <a:ln/>
        </p:spPr>
        <p:txBody>
          <a:bodyPr wrap="square" rtlCol="0" anchor="ctr"/>
          <a:lstStyle/>
          <a:p>
            <a:pPr indent="0" marL="0">
              <a:buNone/>
            </a:pPr>
            <a:r>
              <a:rPr lang="en-US" sz="2500" dirty="0">
                <a:solidFill>
                  <a:srgbClr val="2F5D62"/>
                </a:solidFill>
                <a:latin typeface="Georgia" pitchFamily="34" charset="0"/>
                <a:ea typeface="Georgia" pitchFamily="34" charset="-122"/>
                <a:cs typeface="Georgia" pitchFamily="34" charset="-120"/>
              </a:rPr>
              <a:t>05</a:t>
            </a:r>
            <a:endParaRPr lang="en-US" sz="2500" dirty="0"/>
          </a:p>
        </p:txBody>
      </p:sp>
      <p:sp>
        <p:nvSpPr>
          <p:cNvPr id="24" name="Shape 21"/>
          <p:cNvSpPr/>
          <p:nvPr/>
        </p:nvSpPr>
        <p:spPr>
          <a:xfrm>
            <a:off x="9464040" y="2651760"/>
            <a:ext cx="1874520" cy="0"/>
          </a:xfrm>
          <a:prstGeom prst="line">
            <a:avLst/>
          </a:prstGeom>
          <a:noFill/>
          <a:ln w="9525">
            <a:solidFill>
              <a:srgbClr val="DFDAD0"/>
            </a:solidFill>
            <a:prstDash val="solid"/>
          </a:ln>
        </p:spPr>
      </p:sp>
      <p:sp>
        <p:nvSpPr>
          <p:cNvPr id="25" name="Text 22"/>
          <p:cNvSpPr/>
          <p:nvPr/>
        </p:nvSpPr>
        <p:spPr>
          <a:xfrm>
            <a:off x="9464040" y="2788920"/>
            <a:ext cx="1783080" cy="658368"/>
          </a:xfrm>
          <a:prstGeom prst="rect">
            <a:avLst/>
          </a:prstGeom>
          <a:noFill/>
          <a:ln/>
        </p:spPr>
        <p:txBody>
          <a:bodyPr wrap="square" rtlCol="0" anchor="t"/>
          <a:lstStyle/>
          <a:p>
            <a:pPr indent="0" marL="0">
              <a:lnSpc>
                <a:spcPts val="2000"/>
              </a:lnSpc>
              <a:buNone/>
            </a:pPr>
            <a:r>
              <a:rPr lang="en-US" sz="1500" dirty="0">
                <a:solidFill>
                  <a:srgbClr val="1C1E1C"/>
                </a:solidFill>
                <a:latin typeface="Georgia" pitchFamily="34" charset="0"/>
                <a:ea typeface="Georgia" pitchFamily="34" charset="-122"/>
                <a:cs typeface="Georgia" pitchFamily="34" charset="-120"/>
              </a:rPr>
              <a:t>Open the public IP</a:t>
            </a:r>
            <a:endParaRPr lang="en-US" sz="1500" dirty="0"/>
          </a:p>
        </p:txBody>
      </p:sp>
      <p:sp>
        <p:nvSpPr>
          <p:cNvPr id="26" name="Text 23"/>
          <p:cNvSpPr/>
          <p:nvPr/>
        </p:nvSpPr>
        <p:spPr>
          <a:xfrm>
            <a:off x="9464040" y="3474720"/>
            <a:ext cx="1783080" cy="1280160"/>
          </a:xfrm>
          <a:prstGeom prst="rect">
            <a:avLst/>
          </a:prstGeom>
          <a:noFill/>
          <a:ln/>
        </p:spPr>
        <p:txBody>
          <a:bodyPr wrap="square" rtlCol="0" anchor="t"/>
          <a:lstStyle/>
          <a:p>
            <a:pPr indent="0" marL="0">
              <a:lnSpc>
                <a:spcPts val="1700"/>
              </a:lnSpc>
              <a:buNone/>
            </a:pPr>
            <a:r>
              <a:rPr lang="en-US" sz="1200" dirty="0">
                <a:solidFill>
                  <a:srgbClr val="4D5551"/>
                </a:solidFill>
                <a:latin typeface="Calibri" pitchFamily="34" charset="0"/>
                <a:ea typeface="Calibri" pitchFamily="34" charset="-122"/>
                <a:cs typeface="Calibri" pitchFamily="34" charset="-120"/>
              </a:rPr>
              <a:t>Upload, then confirm the object in the S3 console.</a:t>
            </a:r>
            <a:endParaRPr lang="en-US" sz="1200" dirty="0"/>
          </a:p>
        </p:txBody>
      </p:sp>
      <p:sp>
        <p:nvSpPr>
          <p:cNvPr id="27" name="Shape 24"/>
          <p:cNvSpPr/>
          <p:nvPr/>
        </p:nvSpPr>
        <p:spPr>
          <a:xfrm>
            <a:off x="868680" y="5029200"/>
            <a:ext cx="10454335" cy="868680"/>
          </a:xfrm>
          <a:prstGeom prst="roundRect">
            <a:avLst>
              <a:gd name="adj" fmla="val 5263"/>
            </a:avLst>
          </a:prstGeom>
          <a:solidFill>
            <a:srgbClr val="F0E8DA"/>
          </a:solidFill>
          <a:ln w="12700">
            <a:solidFill>
              <a:srgbClr val="F0E8DA"/>
            </a:solidFill>
            <a:prstDash val="solid"/>
          </a:ln>
        </p:spPr>
      </p:sp>
      <p:sp>
        <p:nvSpPr>
          <p:cNvPr id="28" name="Text 25"/>
          <p:cNvSpPr/>
          <p:nvPr/>
        </p:nvSpPr>
        <p:spPr>
          <a:xfrm>
            <a:off x="1234440" y="5029200"/>
            <a:ext cx="9722815" cy="868680"/>
          </a:xfrm>
          <a:prstGeom prst="rect">
            <a:avLst/>
          </a:prstGeom>
          <a:noFill/>
          <a:ln/>
        </p:spPr>
        <p:txBody>
          <a:bodyPr wrap="square" rtlCol="0" anchor="ctr"/>
          <a:lstStyle/>
          <a:p>
            <a:pPr indent="0" marL="0">
              <a:buNone/>
            </a:pPr>
            <a:r>
              <a:rPr lang="en-US" sz="1350" dirty="0">
                <a:solidFill>
                  <a:srgbClr val="4F4737"/>
                </a:solidFill>
                <a:latin typeface="Calibri" pitchFamily="34" charset="0"/>
                <a:ea typeface="Calibri" pitchFamily="34" charset="-122"/>
                <a:cs typeface="Calibri" pitchFamily="34" charset="-120"/>
              </a:rPr>
              <a:t>The whole setup takes about twenty minutes and stays inside the AWS Free Tier. Terminate the instance and empty the bucket afterwards to keep the bill at zero.</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3" name="Text 0"/>
          <p:cNvSpPr/>
          <p:nvPr/>
        </p:nvSpPr>
        <p:spPr>
          <a:xfrm>
            <a:off x="868680" y="475488"/>
            <a:ext cx="7315200" cy="256032"/>
          </a:xfrm>
          <a:prstGeom prst="rect">
            <a:avLst/>
          </a:prstGeom>
          <a:noFill/>
          <a:ln/>
        </p:spPr>
        <p:txBody>
          <a:bodyPr wrap="square" rtlCol="0" anchor="ctr"/>
          <a:lstStyle/>
          <a:p>
            <a:pPr indent="0" marL="0">
              <a:buNone/>
            </a:pPr>
            <a:r>
              <a:rPr lang="en-US" sz="1050" b="1" spc="240" kern="0" dirty="0">
                <a:solidFill>
                  <a:srgbClr val="2F5D62"/>
                </a:solidFill>
                <a:latin typeface="Calibri" pitchFamily="34" charset="0"/>
                <a:ea typeface="Calibri" pitchFamily="34" charset="-122"/>
                <a:cs typeface="Calibri" pitchFamily="34" charset="-120"/>
              </a:rPr>
              <a:t>RESULTS</a:t>
            </a:r>
            <a:endParaRPr lang="en-US" sz="1050" dirty="0"/>
          </a:p>
        </p:txBody>
      </p:sp>
      <p:sp>
        <p:nvSpPr>
          <p:cNvPr id="4" name="Text 1"/>
          <p:cNvSpPr/>
          <p:nvPr/>
        </p:nvSpPr>
        <p:spPr>
          <a:xfrm>
            <a:off x="868680" y="768096"/>
            <a:ext cx="9539935" cy="621792"/>
          </a:xfrm>
          <a:prstGeom prst="rect">
            <a:avLst/>
          </a:prstGeom>
          <a:noFill/>
          <a:ln/>
        </p:spPr>
        <p:txBody>
          <a:bodyPr wrap="square" rtlCol="0" anchor="ctr"/>
          <a:lstStyle/>
          <a:p>
            <a:pPr indent="0" marL="0">
              <a:buNone/>
            </a:pPr>
            <a:r>
              <a:rPr lang="en-US" sz="3000" dirty="0">
                <a:solidFill>
                  <a:srgbClr val="1C1E1C"/>
                </a:solidFill>
                <a:latin typeface="Georgia" pitchFamily="34" charset="0"/>
                <a:ea typeface="Georgia" pitchFamily="34" charset="-122"/>
                <a:cs typeface="Georgia" pitchFamily="34" charset="-120"/>
              </a:rPr>
              <a:t>What was tested</a:t>
            </a:r>
            <a:endParaRPr lang="en-US" sz="3000" dirty="0"/>
          </a:p>
        </p:txBody>
      </p:sp>
      <p:sp>
        <p:nvSpPr>
          <p:cNvPr id="5" name="Text 2"/>
          <p:cNvSpPr/>
          <p:nvPr/>
        </p:nvSpPr>
        <p:spPr>
          <a:xfrm>
            <a:off x="10500055" y="868680"/>
            <a:ext cx="822960" cy="365760"/>
          </a:xfrm>
          <a:prstGeom prst="rect">
            <a:avLst/>
          </a:prstGeom>
          <a:noFill/>
          <a:ln/>
        </p:spPr>
        <p:txBody>
          <a:bodyPr wrap="square" rtlCol="0" anchor="ctr"/>
          <a:lstStyle/>
          <a:p>
            <a:pPr algn="r" indent="0" marL="0">
              <a:buNone/>
            </a:pPr>
            <a:r>
              <a:rPr lang="en-US" sz="1100" spc="100" kern="0" dirty="0">
                <a:solidFill>
                  <a:srgbClr val="6E756F"/>
                </a:solidFill>
                <a:latin typeface="Calibri" pitchFamily="34" charset="0"/>
                <a:ea typeface="Calibri" pitchFamily="34" charset="-122"/>
                <a:cs typeface="Calibri" pitchFamily="34" charset="-120"/>
              </a:rPr>
              <a:t>11</a:t>
            </a:r>
            <a:endParaRPr lang="en-US" sz="1100" dirty="0"/>
          </a:p>
        </p:txBody>
      </p:sp>
      <p:sp>
        <p:nvSpPr>
          <p:cNvPr id="6" name="Shape 3"/>
          <p:cNvSpPr/>
          <p:nvPr/>
        </p:nvSpPr>
        <p:spPr>
          <a:xfrm>
            <a:off x="868680" y="1572768"/>
            <a:ext cx="10454335" cy="0"/>
          </a:xfrm>
          <a:prstGeom prst="line">
            <a:avLst/>
          </a:prstGeom>
          <a:noFill/>
          <a:ln w="9525">
            <a:solidFill>
              <a:srgbClr val="DFDAD0"/>
            </a:solidFill>
            <a:prstDash val="solid"/>
          </a:ln>
        </p:spPr>
      </p:sp>
      <p:sp>
        <p:nvSpPr>
          <p:cNvPr id="7" name="Text 4"/>
          <p:cNvSpPr/>
          <p:nvPr/>
        </p:nvSpPr>
        <p:spPr>
          <a:xfrm>
            <a:off x="868680" y="1920240"/>
            <a:ext cx="3017520" cy="292608"/>
          </a:xfrm>
          <a:prstGeom prst="rect">
            <a:avLst/>
          </a:prstGeom>
          <a:noFill/>
          <a:ln/>
        </p:spPr>
        <p:txBody>
          <a:bodyPr wrap="square" rtlCol="0" anchor="ctr"/>
          <a:lstStyle/>
          <a:p>
            <a:pPr indent="0" marL="0">
              <a:buNone/>
            </a:pPr>
            <a:r>
              <a:rPr lang="en-US" sz="1050" b="1" spc="160" kern="0" dirty="0">
                <a:solidFill>
                  <a:srgbClr val="6E756F"/>
                </a:solidFill>
                <a:latin typeface="Calibri" pitchFamily="34" charset="0"/>
                <a:ea typeface="Calibri" pitchFamily="34" charset="-122"/>
                <a:cs typeface="Calibri" pitchFamily="34" charset="-120"/>
              </a:rPr>
              <a:t>TEST CASE</a:t>
            </a:r>
            <a:endParaRPr lang="en-US" sz="1050" dirty="0"/>
          </a:p>
        </p:txBody>
      </p:sp>
      <p:sp>
        <p:nvSpPr>
          <p:cNvPr id="8" name="Text 5"/>
          <p:cNvSpPr/>
          <p:nvPr/>
        </p:nvSpPr>
        <p:spPr>
          <a:xfrm>
            <a:off x="4069080" y="1920240"/>
            <a:ext cx="5943600" cy="292608"/>
          </a:xfrm>
          <a:prstGeom prst="rect">
            <a:avLst/>
          </a:prstGeom>
          <a:noFill/>
          <a:ln/>
        </p:spPr>
        <p:txBody>
          <a:bodyPr wrap="square" rtlCol="0" anchor="ctr"/>
          <a:lstStyle/>
          <a:p>
            <a:pPr indent="0" marL="0">
              <a:buNone/>
            </a:pPr>
            <a:r>
              <a:rPr lang="en-US" sz="1050" b="1" spc="160" kern="0" dirty="0">
                <a:solidFill>
                  <a:srgbClr val="6E756F"/>
                </a:solidFill>
                <a:latin typeface="Calibri" pitchFamily="34" charset="0"/>
                <a:ea typeface="Calibri" pitchFamily="34" charset="-122"/>
                <a:cs typeface="Calibri" pitchFamily="34" charset="-120"/>
              </a:rPr>
              <a:t>EXPECTED AND OBSERVED RESULT</a:t>
            </a:r>
            <a:endParaRPr lang="en-US" sz="1050" dirty="0"/>
          </a:p>
        </p:txBody>
      </p:sp>
      <p:sp>
        <p:nvSpPr>
          <p:cNvPr id="9" name="Text 6"/>
          <p:cNvSpPr/>
          <p:nvPr/>
        </p:nvSpPr>
        <p:spPr>
          <a:xfrm>
            <a:off x="10195560" y="1920240"/>
            <a:ext cx="1097280" cy="292608"/>
          </a:xfrm>
          <a:prstGeom prst="rect">
            <a:avLst/>
          </a:prstGeom>
          <a:noFill/>
          <a:ln/>
        </p:spPr>
        <p:txBody>
          <a:bodyPr wrap="square" rtlCol="0" anchor="ctr"/>
          <a:lstStyle/>
          <a:p>
            <a:pPr algn="r" indent="0" marL="0">
              <a:buNone/>
            </a:pPr>
            <a:r>
              <a:rPr lang="en-US" sz="1050" b="1" spc="160" kern="0" dirty="0">
                <a:solidFill>
                  <a:srgbClr val="6E756F"/>
                </a:solidFill>
                <a:latin typeface="Calibri" pitchFamily="34" charset="0"/>
                <a:ea typeface="Calibri" pitchFamily="34" charset="-122"/>
                <a:cs typeface="Calibri" pitchFamily="34" charset="-120"/>
              </a:rPr>
              <a:t>STATUS</a:t>
            </a:r>
            <a:endParaRPr lang="en-US" sz="1050" dirty="0"/>
          </a:p>
        </p:txBody>
      </p:sp>
      <p:sp>
        <p:nvSpPr>
          <p:cNvPr id="10" name="Shape 7"/>
          <p:cNvSpPr/>
          <p:nvPr/>
        </p:nvSpPr>
        <p:spPr>
          <a:xfrm>
            <a:off x="868680" y="2286000"/>
            <a:ext cx="10454335" cy="0"/>
          </a:xfrm>
          <a:prstGeom prst="line">
            <a:avLst/>
          </a:prstGeom>
          <a:noFill/>
          <a:ln w="12700">
            <a:solidFill>
              <a:srgbClr val="2F5D62"/>
            </a:solidFill>
            <a:prstDash val="solid"/>
          </a:ln>
        </p:spPr>
      </p:sp>
      <p:sp>
        <p:nvSpPr>
          <p:cNvPr id="11" name="Text 8"/>
          <p:cNvSpPr/>
          <p:nvPr/>
        </p:nvSpPr>
        <p:spPr>
          <a:xfrm>
            <a:off x="868680" y="2377440"/>
            <a:ext cx="3017520" cy="457200"/>
          </a:xfrm>
          <a:prstGeom prst="rect">
            <a:avLst/>
          </a:prstGeom>
          <a:noFill/>
          <a:ln/>
        </p:spPr>
        <p:txBody>
          <a:bodyPr wrap="square" rtlCol="0" anchor="ctr"/>
          <a:lstStyle/>
          <a:p>
            <a:pPr indent="0" marL="0">
              <a:buNone/>
            </a:pPr>
            <a:r>
              <a:rPr lang="en-US" sz="1350" dirty="0">
                <a:solidFill>
                  <a:srgbClr val="1C1E1C"/>
                </a:solidFill>
                <a:latin typeface="Georgia" pitchFamily="34" charset="0"/>
                <a:ea typeface="Georgia" pitchFamily="34" charset="-122"/>
                <a:cs typeface="Georgia" pitchFamily="34" charset="-120"/>
              </a:rPr>
              <a:t>Upload a PNG</a:t>
            </a:r>
            <a:endParaRPr lang="en-US" sz="1350" dirty="0"/>
          </a:p>
        </p:txBody>
      </p:sp>
      <p:sp>
        <p:nvSpPr>
          <p:cNvPr id="12" name="Text 9"/>
          <p:cNvSpPr/>
          <p:nvPr/>
        </p:nvSpPr>
        <p:spPr>
          <a:xfrm>
            <a:off x="4069080" y="2377440"/>
            <a:ext cx="5943600" cy="457200"/>
          </a:xfrm>
          <a:prstGeom prst="rect">
            <a:avLst/>
          </a:prstGeom>
          <a:noFill/>
          <a:ln/>
        </p:spPr>
        <p:txBody>
          <a:bodyPr wrap="square" rtlCol="0" anchor="ctr"/>
          <a:lstStyle/>
          <a:p>
            <a:pPr indent="0" marL="0">
              <a:buNone/>
            </a:pPr>
            <a:r>
              <a:rPr lang="en-US" sz="1250" dirty="0">
                <a:solidFill>
                  <a:srgbClr val="4D5551"/>
                </a:solidFill>
                <a:latin typeface="Calibri" pitchFamily="34" charset="0"/>
                <a:ea typeface="Calibri" pitchFamily="34" charset="-122"/>
                <a:cs typeface="Calibri" pitchFamily="34" charset="-120"/>
              </a:rPr>
              <a:t>Object appears in the bucket, bytes identical to the file sent</a:t>
            </a:r>
            <a:endParaRPr lang="en-US" sz="1250" dirty="0"/>
          </a:p>
        </p:txBody>
      </p:sp>
      <p:sp>
        <p:nvSpPr>
          <p:cNvPr id="13" name="Text 10"/>
          <p:cNvSpPr/>
          <p:nvPr/>
        </p:nvSpPr>
        <p:spPr>
          <a:xfrm>
            <a:off x="10195560" y="2377440"/>
            <a:ext cx="1097280" cy="457200"/>
          </a:xfrm>
          <a:prstGeom prst="rect">
            <a:avLst/>
          </a:prstGeom>
          <a:noFill/>
          <a:ln/>
        </p:spPr>
        <p:txBody>
          <a:bodyPr wrap="square" rtlCol="0" anchor="ctr"/>
          <a:lstStyle/>
          <a:p>
            <a:pPr algn="r" indent="0" marL="0">
              <a:buNone/>
            </a:pPr>
            <a:r>
              <a:rPr lang="en-US" sz="1250" b="1" dirty="0">
                <a:solidFill>
                  <a:srgbClr val="2F5D62"/>
                </a:solidFill>
                <a:latin typeface="Calibri" pitchFamily="34" charset="0"/>
                <a:ea typeface="Calibri" pitchFamily="34" charset="-122"/>
                <a:cs typeface="Calibri" pitchFamily="34" charset="-120"/>
              </a:rPr>
              <a:t>Pass</a:t>
            </a:r>
            <a:endParaRPr lang="en-US" sz="1250" dirty="0"/>
          </a:p>
        </p:txBody>
      </p:sp>
      <p:sp>
        <p:nvSpPr>
          <p:cNvPr id="14" name="Shape 11"/>
          <p:cNvSpPr/>
          <p:nvPr/>
        </p:nvSpPr>
        <p:spPr>
          <a:xfrm>
            <a:off x="868680" y="2852928"/>
            <a:ext cx="10454335" cy="0"/>
          </a:xfrm>
          <a:prstGeom prst="line">
            <a:avLst/>
          </a:prstGeom>
          <a:noFill/>
          <a:ln w="9525">
            <a:solidFill>
              <a:srgbClr val="DFDAD0"/>
            </a:solidFill>
            <a:prstDash val="solid"/>
          </a:ln>
        </p:spPr>
      </p:sp>
      <p:sp>
        <p:nvSpPr>
          <p:cNvPr id="15" name="Text 12"/>
          <p:cNvSpPr/>
          <p:nvPr/>
        </p:nvSpPr>
        <p:spPr>
          <a:xfrm>
            <a:off x="868680" y="2880360"/>
            <a:ext cx="3017520" cy="457200"/>
          </a:xfrm>
          <a:prstGeom prst="rect">
            <a:avLst/>
          </a:prstGeom>
          <a:noFill/>
          <a:ln/>
        </p:spPr>
        <p:txBody>
          <a:bodyPr wrap="square" rtlCol="0" anchor="ctr"/>
          <a:lstStyle/>
          <a:p>
            <a:pPr indent="0" marL="0">
              <a:buNone/>
            </a:pPr>
            <a:r>
              <a:rPr lang="en-US" sz="1350" dirty="0">
                <a:solidFill>
                  <a:srgbClr val="1C1E1C"/>
                </a:solidFill>
                <a:latin typeface="Georgia" pitchFamily="34" charset="0"/>
                <a:ea typeface="Georgia" pitchFamily="34" charset="-122"/>
                <a:cs typeface="Georgia" pitchFamily="34" charset="-120"/>
              </a:rPr>
              <a:t>View an image</a:t>
            </a:r>
            <a:endParaRPr lang="en-US" sz="1350" dirty="0"/>
          </a:p>
        </p:txBody>
      </p:sp>
      <p:sp>
        <p:nvSpPr>
          <p:cNvPr id="16" name="Text 13"/>
          <p:cNvSpPr/>
          <p:nvPr/>
        </p:nvSpPr>
        <p:spPr>
          <a:xfrm>
            <a:off x="4069080" y="2880360"/>
            <a:ext cx="5943600" cy="457200"/>
          </a:xfrm>
          <a:prstGeom prst="rect">
            <a:avLst/>
          </a:prstGeom>
          <a:noFill/>
          <a:ln/>
        </p:spPr>
        <p:txBody>
          <a:bodyPr wrap="square" rtlCol="0" anchor="ctr"/>
          <a:lstStyle/>
          <a:p>
            <a:pPr indent="0" marL="0">
              <a:buNone/>
            </a:pPr>
            <a:r>
              <a:rPr lang="en-US" sz="1250" dirty="0">
                <a:solidFill>
                  <a:srgbClr val="4D5551"/>
                </a:solidFill>
                <a:latin typeface="Calibri" pitchFamily="34" charset="0"/>
                <a:ea typeface="Calibri" pitchFamily="34" charset="-122"/>
                <a:cs typeface="Calibri" pitchFamily="34" charset="-120"/>
              </a:rPr>
              <a:t>Presigned URL returns HTTP 200 and the exact uploaded bytes</a:t>
            </a:r>
            <a:endParaRPr lang="en-US" sz="1250" dirty="0"/>
          </a:p>
        </p:txBody>
      </p:sp>
      <p:sp>
        <p:nvSpPr>
          <p:cNvPr id="17" name="Text 14"/>
          <p:cNvSpPr/>
          <p:nvPr/>
        </p:nvSpPr>
        <p:spPr>
          <a:xfrm>
            <a:off x="10195560" y="2880360"/>
            <a:ext cx="1097280" cy="457200"/>
          </a:xfrm>
          <a:prstGeom prst="rect">
            <a:avLst/>
          </a:prstGeom>
          <a:noFill/>
          <a:ln/>
        </p:spPr>
        <p:txBody>
          <a:bodyPr wrap="square" rtlCol="0" anchor="ctr"/>
          <a:lstStyle/>
          <a:p>
            <a:pPr algn="r" indent="0" marL="0">
              <a:buNone/>
            </a:pPr>
            <a:r>
              <a:rPr lang="en-US" sz="1250" b="1" dirty="0">
                <a:solidFill>
                  <a:srgbClr val="2F5D62"/>
                </a:solidFill>
                <a:latin typeface="Calibri" pitchFamily="34" charset="0"/>
                <a:ea typeface="Calibri" pitchFamily="34" charset="-122"/>
                <a:cs typeface="Calibri" pitchFamily="34" charset="-120"/>
              </a:rPr>
              <a:t>Pass</a:t>
            </a:r>
            <a:endParaRPr lang="en-US" sz="1250" dirty="0"/>
          </a:p>
        </p:txBody>
      </p:sp>
      <p:sp>
        <p:nvSpPr>
          <p:cNvPr id="18" name="Shape 15"/>
          <p:cNvSpPr/>
          <p:nvPr/>
        </p:nvSpPr>
        <p:spPr>
          <a:xfrm>
            <a:off x="868680" y="3355848"/>
            <a:ext cx="10454335" cy="0"/>
          </a:xfrm>
          <a:prstGeom prst="line">
            <a:avLst/>
          </a:prstGeom>
          <a:noFill/>
          <a:ln w="9525">
            <a:solidFill>
              <a:srgbClr val="DFDAD0"/>
            </a:solidFill>
            <a:prstDash val="solid"/>
          </a:ln>
        </p:spPr>
      </p:sp>
      <p:sp>
        <p:nvSpPr>
          <p:cNvPr id="19" name="Text 16"/>
          <p:cNvSpPr/>
          <p:nvPr/>
        </p:nvSpPr>
        <p:spPr>
          <a:xfrm>
            <a:off x="868680" y="3383280"/>
            <a:ext cx="3017520" cy="457200"/>
          </a:xfrm>
          <a:prstGeom prst="rect">
            <a:avLst/>
          </a:prstGeom>
          <a:noFill/>
          <a:ln/>
        </p:spPr>
        <p:txBody>
          <a:bodyPr wrap="square" rtlCol="0" anchor="ctr"/>
          <a:lstStyle/>
          <a:p>
            <a:pPr indent="0" marL="0">
              <a:buNone/>
            </a:pPr>
            <a:r>
              <a:rPr lang="en-US" sz="1350" dirty="0">
                <a:solidFill>
                  <a:srgbClr val="1C1E1C"/>
                </a:solidFill>
                <a:latin typeface="Georgia" pitchFamily="34" charset="0"/>
                <a:ea typeface="Georgia" pitchFamily="34" charset="-122"/>
                <a:cs typeface="Georgia" pitchFamily="34" charset="-120"/>
              </a:rPr>
              <a:t>List the gallery</a:t>
            </a:r>
            <a:endParaRPr lang="en-US" sz="1350" dirty="0"/>
          </a:p>
        </p:txBody>
      </p:sp>
      <p:sp>
        <p:nvSpPr>
          <p:cNvPr id="20" name="Text 17"/>
          <p:cNvSpPr/>
          <p:nvPr/>
        </p:nvSpPr>
        <p:spPr>
          <a:xfrm>
            <a:off x="4069080" y="3383280"/>
            <a:ext cx="5943600" cy="457200"/>
          </a:xfrm>
          <a:prstGeom prst="rect">
            <a:avLst/>
          </a:prstGeom>
          <a:noFill/>
          <a:ln/>
        </p:spPr>
        <p:txBody>
          <a:bodyPr wrap="square" rtlCol="0" anchor="ctr"/>
          <a:lstStyle/>
          <a:p>
            <a:pPr indent="0" marL="0">
              <a:buNone/>
            </a:pPr>
            <a:r>
              <a:rPr lang="en-US" sz="1250" dirty="0">
                <a:solidFill>
                  <a:srgbClr val="4D5551"/>
                </a:solidFill>
                <a:latin typeface="Calibri" pitchFamily="34" charset="0"/>
                <a:ea typeface="Calibri" pitchFamily="34" charset="-122"/>
                <a:cs typeface="Calibri" pitchFamily="34" charset="-120"/>
              </a:rPr>
              <a:t>Every object listed newest first, with size and timestamp</a:t>
            </a:r>
            <a:endParaRPr lang="en-US" sz="1250" dirty="0"/>
          </a:p>
        </p:txBody>
      </p:sp>
      <p:sp>
        <p:nvSpPr>
          <p:cNvPr id="21" name="Text 18"/>
          <p:cNvSpPr/>
          <p:nvPr/>
        </p:nvSpPr>
        <p:spPr>
          <a:xfrm>
            <a:off x="10195560" y="3383280"/>
            <a:ext cx="1097280" cy="457200"/>
          </a:xfrm>
          <a:prstGeom prst="rect">
            <a:avLst/>
          </a:prstGeom>
          <a:noFill/>
          <a:ln/>
        </p:spPr>
        <p:txBody>
          <a:bodyPr wrap="square" rtlCol="0" anchor="ctr"/>
          <a:lstStyle/>
          <a:p>
            <a:pPr algn="r" indent="0" marL="0">
              <a:buNone/>
            </a:pPr>
            <a:r>
              <a:rPr lang="en-US" sz="1250" b="1" dirty="0">
                <a:solidFill>
                  <a:srgbClr val="2F5D62"/>
                </a:solidFill>
                <a:latin typeface="Calibri" pitchFamily="34" charset="0"/>
                <a:ea typeface="Calibri" pitchFamily="34" charset="-122"/>
                <a:cs typeface="Calibri" pitchFamily="34" charset="-120"/>
              </a:rPr>
              <a:t>Pass</a:t>
            </a:r>
            <a:endParaRPr lang="en-US" sz="1250" dirty="0"/>
          </a:p>
        </p:txBody>
      </p:sp>
      <p:sp>
        <p:nvSpPr>
          <p:cNvPr id="22" name="Shape 19"/>
          <p:cNvSpPr/>
          <p:nvPr/>
        </p:nvSpPr>
        <p:spPr>
          <a:xfrm>
            <a:off x="868680" y="3858768"/>
            <a:ext cx="10454335" cy="0"/>
          </a:xfrm>
          <a:prstGeom prst="line">
            <a:avLst/>
          </a:prstGeom>
          <a:noFill/>
          <a:ln w="9525">
            <a:solidFill>
              <a:srgbClr val="DFDAD0"/>
            </a:solidFill>
            <a:prstDash val="solid"/>
          </a:ln>
        </p:spPr>
      </p:sp>
      <p:sp>
        <p:nvSpPr>
          <p:cNvPr id="23" name="Text 20"/>
          <p:cNvSpPr/>
          <p:nvPr/>
        </p:nvSpPr>
        <p:spPr>
          <a:xfrm>
            <a:off x="868680" y="3886200"/>
            <a:ext cx="3017520" cy="457200"/>
          </a:xfrm>
          <a:prstGeom prst="rect">
            <a:avLst/>
          </a:prstGeom>
          <a:noFill/>
          <a:ln/>
        </p:spPr>
        <p:txBody>
          <a:bodyPr wrap="square" rtlCol="0" anchor="ctr"/>
          <a:lstStyle/>
          <a:p>
            <a:pPr indent="0" marL="0">
              <a:buNone/>
            </a:pPr>
            <a:r>
              <a:rPr lang="en-US" sz="1350" dirty="0">
                <a:solidFill>
                  <a:srgbClr val="1C1E1C"/>
                </a:solidFill>
                <a:latin typeface="Georgia" pitchFamily="34" charset="0"/>
                <a:ea typeface="Georgia" pitchFamily="34" charset="-122"/>
                <a:cs typeface="Georgia" pitchFamily="34" charset="-120"/>
              </a:rPr>
              <a:t>Delete an image</a:t>
            </a:r>
            <a:endParaRPr lang="en-US" sz="1350" dirty="0"/>
          </a:p>
        </p:txBody>
      </p:sp>
      <p:sp>
        <p:nvSpPr>
          <p:cNvPr id="24" name="Text 21"/>
          <p:cNvSpPr/>
          <p:nvPr/>
        </p:nvSpPr>
        <p:spPr>
          <a:xfrm>
            <a:off x="4069080" y="3886200"/>
            <a:ext cx="5943600" cy="457200"/>
          </a:xfrm>
          <a:prstGeom prst="rect">
            <a:avLst/>
          </a:prstGeom>
          <a:noFill/>
          <a:ln/>
        </p:spPr>
        <p:txBody>
          <a:bodyPr wrap="square" rtlCol="0" anchor="ctr"/>
          <a:lstStyle/>
          <a:p>
            <a:pPr indent="0" marL="0">
              <a:buNone/>
            </a:pPr>
            <a:r>
              <a:rPr lang="en-US" sz="1250" dirty="0">
                <a:solidFill>
                  <a:srgbClr val="4D5551"/>
                </a:solidFill>
                <a:latin typeface="Calibri" pitchFamily="34" charset="0"/>
                <a:ea typeface="Calibri" pitchFamily="34" charset="-122"/>
                <a:cs typeface="Calibri" pitchFamily="34" charset="-120"/>
              </a:rPr>
              <a:t>Object removed, the gallery falls back to its empty state</a:t>
            </a:r>
            <a:endParaRPr lang="en-US" sz="1250" dirty="0"/>
          </a:p>
        </p:txBody>
      </p:sp>
      <p:sp>
        <p:nvSpPr>
          <p:cNvPr id="25" name="Text 22"/>
          <p:cNvSpPr/>
          <p:nvPr/>
        </p:nvSpPr>
        <p:spPr>
          <a:xfrm>
            <a:off x="10195560" y="3886200"/>
            <a:ext cx="1097280" cy="457200"/>
          </a:xfrm>
          <a:prstGeom prst="rect">
            <a:avLst/>
          </a:prstGeom>
          <a:noFill/>
          <a:ln/>
        </p:spPr>
        <p:txBody>
          <a:bodyPr wrap="square" rtlCol="0" anchor="ctr"/>
          <a:lstStyle/>
          <a:p>
            <a:pPr algn="r" indent="0" marL="0">
              <a:buNone/>
            </a:pPr>
            <a:r>
              <a:rPr lang="en-US" sz="1250" b="1" dirty="0">
                <a:solidFill>
                  <a:srgbClr val="2F5D62"/>
                </a:solidFill>
                <a:latin typeface="Calibri" pitchFamily="34" charset="0"/>
                <a:ea typeface="Calibri" pitchFamily="34" charset="-122"/>
                <a:cs typeface="Calibri" pitchFamily="34" charset="-120"/>
              </a:rPr>
              <a:t>Pass</a:t>
            </a:r>
            <a:endParaRPr lang="en-US" sz="1250" dirty="0"/>
          </a:p>
        </p:txBody>
      </p:sp>
      <p:sp>
        <p:nvSpPr>
          <p:cNvPr id="26" name="Shape 23"/>
          <p:cNvSpPr/>
          <p:nvPr/>
        </p:nvSpPr>
        <p:spPr>
          <a:xfrm>
            <a:off x="868680" y="4361688"/>
            <a:ext cx="10454335" cy="0"/>
          </a:xfrm>
          <a:prstGeom prst="line">
            <a:avLst/>
          </a:prstGeom>
          <a:noFill/>
          <a:ln w="9525">
            <a:solidFill>
              <a:srgbClr val="DFDAD0"/>
            </a:solidFill>
            <a:prstDash val="solid"/>
          </a:ln>
        </p:spPr>
      </p:sp>
      <p:sp>
        <p:nvSpPr>
          <p:cNvPr id="27" name="Text 24"/>
          <p:cNvSpPr/>
          <p:nvPr/>
        </p:nvSpPr>
        <p:spPr>
          <a:xfrm>
            <a:off x="868680" y="4389120"/>
            <a:ext cx="3017520" cy="457200"/>
          </a:xfrm>
          <a:prstGeom prst="rect">
            <a:avLst/>
          </a:prstGeom>
          <a:noFill/>
          <a:ln/>
        </p:spPr>
        <p:txBody>
          <a:bodyPr wrap="square" rtlCol="0" anchor="ctr"/>
          <a:lstStyle/>
          <a:p>
            <a:pPr indent="0" marL="0">
              <a:buNone/>
            </a:pPr>
            <a:r>
              <a:rPr lang="en-US" sz="1350" dirty="0">
                <a:solidFill>
                  <a:srgbClr val="1C1E1C"/>
                </a:solidFill>
                <a:latin typeface="Georgia" pitchFamily="34" charset="0"/>
                <a:ea typeface="Georgia" pitchFamily="34" charset="-122"/>
                <a:cs typeface="Georgia" pitchFamily="34" charset="-120"/>
              </a:rPr>
              <a:t>Upload a .txt file</a:t>
            </a:r>
            <a:endParaRPr lang="en-US" sz="1350" dirty="0"/>
          </a:p>
        </p:txBody>
      </p:sp>
      <p:sp>
        <p:nvSpPr>
          <p:cNvPr id="28" name="Text 25"/>
          <p:cNvSpPr/>
          <p:nvPr/>
        </p:nvSpPr>
        <p:spPr>
          <a:xfrm>
            <a:off x="4069080" y="4389120"/>
            <a:ext cx="5943600" cy="457200"/>
          </a:xfrm>
          <a:prstGeom prst="rect">
            <a:avLst/>
          </a:prstGeom>
          <a:noFill/>
          <a:ln/>
        </p:spPr>
        <p:txBody>
          <a:bodyPr wrap="square" rtlCol="0" anchor="ctr"/>
          <a:lstStyle/>
          <a:p>
            <a:pPr indent="0" marL="0">
              <a:buNone/>
            </a:pPr>
            <a:r>
              <a:rPr lang="en-US" sz="1250" dirty="0">
                <a:solidFill>
                  <a:srgbClr val="4D5551"/>
                </a:solidFill>
                <a:latin typeface="Calibri" pitchFamily="34" charset="0"/>
                <a:ea typeface="Calibri" pitchFamily="34" charset="-122"/>
                <a:cs typeface="Calibri" pitchFamily="34" charset="-120"/>
              </a:rPr>
              <a:t>Rejected with a message, nothing written to the bucket</a:t>
            </a:r>
            <a:endParaRPr lang="en-US" sz="1250" dirty="0"/>
          </a:p>
        </p:txBody>
      </p:sp>
      <p:sp>
        <p:nvSpPr>
          <p:cNvPr id="29" name="Text 26"/>
          <p:cNvSpPr/>
          <p:nvPr/>
        </p:nvSpPr>
        <p:spPr>
          <a:xfrm>
            <a:off x="10195560" y="4389120"/>
            <a:ext cx="1097280" cy="457200"/>
          </a:xfrm>
          <a:prstGeom prst="rect">
            <a:avLst/>
          </a:prstGeom>
          <a:noFill/>
          <a:ln/>
        </p:spPr>
        <p:txBody>
          <a:bodyPr wrap="square" rtlCol="0" anchor="ctr"/>
          <a:lstStyle/>
          <a:p>
            <a:pPr algn="r" indent="0" marL="0">
              <a:buNone/>
            </a:pPr>
            <a:r>
              <a:rPr lang="en-US" sz="1250" b="1" dirty="0">
                <a:solidFill>
                  <a:srgbClr val="2F5D62"/>
                </a:solidFill>
                <a:latin typeface="Calibri" pitchFamily="34" charset="0"/>
                <a:ea typeface="Calibri" pitchFamily="34" charset="-122"/>
                <a:cs typeface="Calibri" pitchFamily="34" charset="-120"/>
              </a:rPr>
              <a:t>Pass</a:t>
            </a:r>
            <a:endParaRPr lang="en-US" sz="1250" dirty="0"/>
          </a:p>
        </p:txBody>
      </p:sp>
      <p:sp>
        <p:nvSpPr>
          <p:cNvPr id="30" name="Shape 27"/>
          <p:cNvSpPr/>
          <p:nvPr/>
        </p:nvSpPr>
        <p:spPr>
          <a:xfrm>
            <a:off x="868680" y="4864608"/>
            <a:ext cx="10454335" cy="0"/>
          </a:xfrm>
          <a:prstGeom prst="line">
            <a:avLst/>
          </a:prstGeom>
          <a:noFill/>
          <a:ln w="9525">
            <a:solidFill>
              <a:srgbClr val="DFDAD0"/>
            </a:solidFill>
            <a:prstDash val="solid"/>
          </a:ln>
        </p:spPr>
      </p:sp>
      <p:sp>
        <p:nvSpPr>
          <p:cNvPr id="31" name="Text 28"/>
          <p:cNvSpPr/>
          <p:nvPr/>
        </p:nvSpPr>
        <p:spPr>
          <a:xfrm>
            <a:off x="868680" y="4892040"/>
            <a:ext cx="3017520" cy="457200"/>
          </a:xfrm>
          <a:prstGeom prst="rect">
            <a:avLst/>
          </a:prstGeom>
          <a:noFill/>
          <a:ln/>
        </p:spPr>
        <p:txBody>
          <a:bodyPr wrap="square" rtlCol="0" anchor="ctr"/>
          <a:lstStyle/>
          <a:p>
            <a:pPr indent="0" marL="0">
              <a:buNone/>
            </a:pPr>
            <a:r>
              <a:rPr lang="en-US" sz="1350" dirty="0">
                <a:solidFill>
                  <a:srgbClr val="1C1E1C"/>
                </a:solidFill>
                <a:latin typeface="Georgia" pitchFamily="34" charset="0"/>
                <a:ea typeface="Georgia" pitchFamily="34" charset="-122"/>
                <a:cs typeface="Georgia" pitchFamily="34" charset="-120"/>
              </a:rPr>
              <a:t>Upload with no file</a:t>
            </a:r>
            <a:endParaRPr lang="en-US" sz="1350" dirty="0"/>
          </a:p>
        </p:txBody>
      </p:sp>
      <p:sp>
        <p:nvSpPr>
          <p:cNvPr id="32" name="Text 29"/>
          <p:cNvSpPr/>
          <p:nvPr/>
        </p:nvSpPr>
        <p:spPr>
          <a:xfrm>
            <a:off x="4069080" y="4892040"/>
            <a:ext cx="5943600" cy="457200"/>
          </a:xfrm>
          <a:prstGeom prst="rect">
            <a:avLst/>
          </a:prstGeom>
          <a:noFill/>
          <a:ln/>
        </p:spPr>
        <p:txBody>
          <a:bodyPr wrap="square" rtlCol="0" anchor="ctr"/>
          <a:lstStyle/>
          <a:p>
            <a:pPr indent="0" marL="0">
              <a:buNone/>
            </a:pPr>
            <a:r>
              <a:rPr lang="en-US" sz="1250" dirty="0">
                <a:solidFill>
                  <a:srgbClr val="4D5551"/>
                </a:solidFill>
                <a:latin typeface="Calibri" pitchFamily="34" charset="0"/>
                <a:ea typeface="Calibri" pitchFamily="34" charset="-122"/>
                <a:cs typeface="Calibri" pitchFamily="34" charset="-120"/>
              </a:rPr>
              <a:t>Rejected with a message, no request sent to S3</a:t>
            </a:r>
            <a:endParaRPr lang="en-US" sz="1250" dirty="0"/>
          </a:p>
        </p:txBody>
      </p:sp>
      <p:sp>
        <p:nvSpPr>
          <p:cNvPr id="33" name="Text 30"/>
          <p:cNvSpPr/>
          <p:nvPr/>
        </p:nvSpPr>
        <p:spPr>
          <a:xfrm>
            <a:off x="10195560" y="4892040"/>
            <a:ext cx="1097280" cy="457200"/>
          </a:xfrm>
          <a:prstGeom prst="rect">
            <a:avLst/>
          </a:prstGeom>
          <a:noFill/>
          <a:ln/>
        </p:spPr>
        <p:txBody>
          <a:bodyPr wrap="square" rtlCol="0" anchor="ctr"/>
          <a:lstStyle/>
          <a:p>
            <a:pPr algn="r" indent="0" marL="0">
              <a:buNone/>
            </a:pPr>
            <a:r>
              <a:rPr lang="en-US" sz="1250" b="1" dirty="0">
                <a:solidFill>
                  <a:srgbClr val="2F5D62"/>
                </a:solidFill>
                <a:latin typeface="Calibri" pitchFamily="34" charset="0"/>
                <a:ea typeface="Calibri" pitchFamily="34" charset="-122"/>
                <a:cs typeface="Calibri" pitchFamily="34" charset="-120"/>
              </a:rPr>
              <a:t>Pass</a:t>
            </a:r>
            <a:endParaRPr lang="en-US" sz="1250" dirty="0"/>
          </a:p>
        </p:txBody>
      </p:sp>
      <p:sp>
        <p:nvSpPr>
          <p:cNvPr id="34" name="Shape 31"/>
          <p:cNvSpPr/>
          <p:nvPr/>
        </p:nvSpPr>
        <p:spPr>
          <a:xfrm>
            <a:off x="868680" y="5367528"/>
            <a:ext cx="10454335" cy="0"/>
          </a:xfrm>
          <a:prstGeom prst="line">
            <a:avLst/>
          </a:prstGeom>
          <a:noFill/>
          <a:ln w="9525">
            <a:solidFill>
              <a:srgbClr val="DFDAD0"/>
            </a:solidFill>
            <a:prstDash val="solid"/>
          </a:ln>
        </p:spPr>
      </p:sp>
      <p:sp>
        <p:nvSpPr>
          <p:cNvPr id="35" name="Text 32"/>
          <p:cNvSpPr/>
          <p:nvPr/>
        </p:nvSpPr>
        <p:spPr>
          <a:xfrm>
            <a:off x="868680" y="5394960"/>
            <a:ext cx="3017520" cy="457200"/>
          </a:xfrm>
          <a:prstGeom prst="rect">
            <a:avLst/>
          </a:prstGeom>
          <a:noFill/>
          <a:ln/>
        </p:spPr>
        <p:txBody>
          <a:bodyPr wrap="square" rtlCol="0" anchor="ctr"/>
          <a:lstStyle/>
          <a:p>
            <a:pPr indent="0" marL="0">
              <a:buNone/>
            </a:pPr>
            <a:r>
              <a:rPr lang="en-US" sz="1350" dirty="0">
                <a:solidFill>
                  <a:srgbClr val="1C1E1C"/>
                </a:solidFill>
                <a:latin typeface="Georgia" pitchFamily="34" charset="0"/>
                <a:ea typeface="Georgia" pitchFamily="34" charset="-122"/>
                <a:cs typeface="Georgia" pitchFamily="34" charset="-120"/>
              </a:rPr>
              <a:t>Delete outside uploads/</a:t>
            </a:r>
            <a:endParaRPr lang="en-US" sz="1350" dirty="0"/>
          </a:p>
        </p:txBody>
      </p:sp>
      <p:sp>
        <p:nvSpPr>
          <p:cNvPr id="36" name="Text 33"/>
          <p:cNvSpPr/>
          <p:nvPr/>
        </p:nvSpPr>
        <p:spPr>
          <a:xfrm>
            <a:off x="4069080" y="5394960"/>
            <a:ext cx="5943600" cy="457200"/>
          </a:xfrm>
          <a:prstGeom prst="rect">
            <a:avLst/>
          </a:prstGeom>
          <a:noFill/>
          <a:ln/>
        </p:spPr>
        <p:txBody>
          <a:bodyPr wrap="square" rtlCol="0" anchor="ctr"/>
          <a:lstStyle/>
          <a:p>
            <a:pPr indent="0" marL="0">
              <a:buNone/>
            </a:pPr>
            <a:r>
              <a:rPr lang="en-US" sz="1250" dirty="0">
                <a:solidFill>
                  <a:srgbClr val="4D5551"/>
                </a:solidFill>
                <a:latin typeface="Calibri" pitchFamily="34" charset="0"/>
                <a:ea typeface="Calibri" pitchFamily="34" charset="-122"/>
                <a:cs typeface="Calibri" pitchFamily="34" charset="-120"/>
              </a:rPr>
              <a:t>Refused as an invalid key, no S3 call made at all</a:t>
            </a:r>
            <a:endParaRPr lang="en-US" sz="1250" dirty="0"/>
          </a:p>
        </p:txBody>
      </p:sp>
      <p:sp>
        <p:nvSpPr>
          <p:cNvPr id="37" name="Text 34"/>
          <p:cNvSpPr/>
          <p:nvPr/>
        </p:nvSpPr>
        <p:spPr>
          <a:xfrm>
            <a:off x="10195560" y="5394960"/>
            <a:ext cx="1097280" cy="457200"/>
          </a:xfrm>
          <a:prstGeom prst="rect">
            <a:avLst/>
          </a:prstGeom>
          <a:noFill/>
          <a:ln/>
        </p:spPr>
        <p:txBody>
          <a:bodyPr wrap="square" rtlCol="0" anchor="ctr"/>
          <a:lstStyle/>
          <a:p>
            <a:pPr algn="r" indent="0" marL="0">
              <a:buNone/>
            </a:pPr>
            <a:r>
              <a:rPr lang="en-US" sz="1250" b="1" dirty="0">
                <a:solidFill>
                  <a:srgbClr val="2F5D62"/>
                </a:solidFill>
                <a:latin typeface="Calibri" pitchFamily="34" charset="0"/>
                <a:ea typeface="Calibri" pitchFamily="34" charset="-122"/>
                <a:cs typeface="Calibri" pitchFamily="34" charset="-120"/>
              </a:rPr>
              <a:t>Pass</a:t>
            </a:r>
            <a:endParaRPr lang="en-US" sz="1250" dirty="0"/>
          </a:p>
        </p:txBody>
      </p:sp>
      <p:sp>
        <p:nvSpPr>
          <p:cNvPr id="38" name="Shape 35"/>
          <p:cNvSpPr/>
          <p:nvPr/>
        </p:nvSpPr>
        <p:spPr>
          <a:xfrm>
            <a:off x="868680" y="5870448"/>
            <a:ext cx="10454335" cy="0"/>
          </a:xfrm>
          <a:prstGeom prst="line">
            <a:avLst/>
          </a:prstGeom>
          <a:noFill/>
          <a:ln w="9525">
            <a:solidFill>
              <a:srgbClr val="DFDAD0"/>
            </a:solidFill>
            <a:prstDash val="solid"/>
          </a:ln>
        </p:spPr>
      </p:sp>
      <p:sp>
        <p:nvSpPr>
          <p:cNvPr id="39" name="Text 36"/>
          <p:cNvSpPr/>
          <p:nvPr/>
        </p:nvSpPr>
        <p:spPr>
          <a:xfrm>
            <a:off x="868680" y="6080760"/>
            <a:ext cx="10454335" cy="365760"/>
          </a:xfrm>
          <a:prstGeom prst="rect">
            <a:avLst/>
          </a:prstGeom>
          <a:noFill/>
          <a:ln/>
        </p:spPr>
        <p:txBody>
          <a:bodyPr wrap="square" rtlCol="0" anchor="ctr"/>
          <a:lstStyle/>
          <a:p>
            <a:pPr indent="0" marL="0">
              <a:buNone/>
            </a:pPr>
            <a:r>
              <a:rPr lang="en-US" sz="1250" i="1" dirty="0">
                <a:solidFill>
                  <a:srgbClr val="6E756F"/>
                </a:solidFill>
                <a:latin typeface="Calibri" pitchFamily="34" charset="0"/>
                <a:ea typeface="Calibri" pitchFamily="34" charset="-122"/>
                <a:cs typeface="Calibri" pitchFamily="34" charset="-120"/>
              </a:rPr>
              <a:t>Every case was run against a live S3 API, including a byte-for-byte comparison of what each presigned URL returned.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3" name="Text 0"/>
          <p:cNvSpPr/>
          <p:nvPr/>
        </p:nvSpPr>
        <p:spPr>
          <a:xfrm>
            <a:off x="868680" y="475488"/>
            <a:ext cx="7315200" cy="256032"/>
          </a:xfrm>
          <a:prstGeom prst="rect">
            <a:avLst/>
          </a:prstGeom>
          <a:noFill/>
          <a:ln/>
        </p:spPr>
        <p:txBody>
          <a:bodyPr wrap="square" rtlCol="0" anchor="ctr"/>
          <a:lstStyle/>
          <a:p>
            <a:pPr indent="0" marL="0">
              <a:buNone/>
            </a:pPr>
            <a:r>
              <a:rPr lang="en-US" sz="1050" b="1" spc="240" kern="0" dirty="0">
                <a:solidFill>
                  <a:srgbClr val="2F5D62"/>
                </a:solidFill>
                <a:latin typeface="Calibri" pitchFamily="34" charset="0"/>
                <a:ea typeface="Calibri" pitchFamily="34" charset="-122"/>
                <a:cs typeface="Calibri" pitchFamily="34" charset="-120"/>
              </a:rPr>
              <a:t>SCOPE</a:t>
            </a:r>
            <a:endParaRPr lang="en-US" sz="1050" dirty="0"/>
          </a:p>
        </p:txBody>
      </p:sp>
      <p:sp>
        <p:nvSpPr>
          <p:cNvPr id="4" name="Text 1"/>
          <p:cNvSpPr/>
          <p:nvPr/>
        </p:nvSpPr>
        <p:spPr>
          <a:xfrm>
            <a:off x="868680" y="768096"/>
            <a:ext cx="9539935" cy="621792"/>
          </a:xfrm>
          <a:prstGeom prst="rect">
            <a:avLst/>
          </a:prstGeom>
          <a:noFill/>
          <a:ln/>
        </p:spPr>
        <p:txBody>
          <a:bodyPr wrap="square" rtlCol="0" anchor="ctr"/>
          <a:lstStyle/>
          <a:p>
            <a:pPr indent="0" marL="0">
              <a:buNone/>
            </a:pPr>
            <a:r>
              <a:rPr lang="en-US" sz="3000" dirty="0">
                <a:solidFill>
                  <a:srgbClr val="1C1E1C"/>
                </a:solidFill>
                <a:latin typeface="Georgia" pitchFamily="34" charset="0"/>
                <a:ea typeface="Georgia" pitchFamily="34" charset="-122"/>
                <a:cs typeface="Georgia" pitchFamily="34" charset="-120"/>
              </a:rPr>
              <a:t>Honest limits, and what comes next</a:t>
            </a:r>
            <a:endParaRPr lang="en-US" sz="3000" dirty="0"/>
          </a:p>
        </p:txBody>
      </p:sp>
      <p:sp>
        <p:nvSpPr>
          <p:cNvPr id="5" name="Text 2"/>
          <p:cNvSpPr/>
          <p:nvPr/>
        </p:nvSpPr>
        <p:spPr>
          <a:xfrm>
            <a:off x="10500055" y="868680"/>
            <a:ext cx="822960" cy="365760"/>
          </a:xfrm>
          <a:prstGeom prst="rect">
            <a:avLst/>
          </a:prstGeom>
          <a:noFill/>
          <a:ln/>
        </p:spPr>
        <p:txBody>
          <a:bodyPr wrap="square" rtlCol="0" anchor="ctr"/>
          <a:lstStyle/>
          <a:p>
            <a:pPr algn="r" indent="0" marL="0">
              <a:buNone/>
            </a:pPr>
            <a:r>
              <a:rPr lang="en-US" sz="1100" spc="100" kern="0" dirty="0">
                <a:solidFill>
                  <a:srgbClr val="6E756F"/>
                </a:solidFill>
                <a:latin typeface="Calibri" pitchFamily="34" charset="0"/>
                <a:ea typeface="Calibri" pitchFamily="34" charset="-122"/>
                <a:cs typeface="Calibri" pitchFamily="34" charset="-120"/>
              </a:rPr>
              <a:t>12</a:t>
            </a:r>
            <a:endParaRPr lang="en-US" sz="1100" dirty="0"/>
          </a:p>
        </p:txBody>
      </p:sp>
      <p:sp>
        <p:nvSpPr>
          <p:cNvPr id="6" name="Shape 3"/>
          <p:cNvSpPr/>
          <p:nvPr/>
        </p:nvSpPr>
        <p:spPr>
          <a:xfrm>
            <a:off x="868680" y="1572768"/>
            <a:ext cx="10454335" cy="0"/>
          </a:xfrm>
          <a:prstGeom prst="line">
            <a:avLst/>
          </a:prstGeom>
          <a:noFill/>
          <a:ln w="9525">
            <a:solidFill>
              <a:srgbClr val="DFDAD0"/>
            </a:solidFill>
            <a:prstDash val="solid"/>
          </a:ln>
        </p:spPr>
      </p:sp>
      <p:sp>
        <p:nvSpPr>
          <p:cNvPr id="7" name="Text 4"/>
          <p:cNvSpPr/>
          <p:nvPr/>
        </p:nvSpPr>
        <p:spPr>
          <a:xfrm>
            <a:off x="868680" y="1874520"/>
            <a:ext cx="4572000" cy="365760"/>
          </a:xfrm>
          <a:prstGeom prst="rect">
            <a:avLst/>
          </a:prstGeom>
          <a:noFill/>
          <a:ln/>
        </p:spPr>
        <p:txBody>
          <a:bodyPr wrap="square" rtlCol="0" anchor="ctr"/>
          <a:lstStyle/>
          <a:p>
            <a:pPr indent="0" marL="0">
              <a:buNone/>
            </a:pPr>
            <a:r>
              <a:rPr lang="en-US" sz="1750" dirty="0">
                <a:solidFill>
                  <a:srgbClr val="1C1E1C"/>
                </a:solidFill>
                <a:latin typeface="Georgia" pitchFamily="34" charset="0"/>
                <a:ea typeface="Georgia" pitchFamily="34" charset="-122"/>
                <a:cs typeface="Georgia" pitchFamily="34" charset="-120"/>
              </a:rPr>
              <a:t>Current limitations</a:t>
            </a:r>
            <a:endParaRPr lang="en-US" sz="1750" dirty="0"/>
          </a:p>
        </p:txBody>
      </p:sp>
      <p:sp>
        <p:nvSpPr>
          <p:cNvPr id="8" name="Text 5"/>
          <p:cNvSpPr/>
          <p:nvPr/>
        </p:nvSpPr>
        <p:spPr>
          <a:xfrm>
            <a:off x="868680" y="2377440"/>
            <a:ext cx="4572000" cy="2377440"/>
          </a:xfrm>
          <a:prstGeom prst="rect">
            <a:avLst/>
          </a:prstGeom>
          <a:noFill/>
          <a:ln/>
        </p:spPr>
        <p:txBody>
          <a:bodyPr wrap="square" rtlCol="0" anchor="t"/>
          <a:lstStyle/>
          <a:p>
            <a:pPr marL="228600" indent="-228600">
              <a:lnSpc>
                <a:spcPts val="3000"/>
              </a:lnSpc>
              <a:buSzPct val="100000"/>
              <a:buChar char="•"/>
            </a:pPr>
            <a:r>
              <a:rPr lang="en-US" sz="1350" dirty="0">
                <a:solidFill>
                  <a:srgbClr val="4D5551"/>
                </a:solidFill>
                <a:latin typeface="Calibri" pitchFamily="34" charset="0"/>
                <a:ea typeface="Calibri" pitchFamily="34" charset="-122"/>
                <a:cs typeface="Calibri" pitchFamily="34" charset="-120"/>
              </a:rPr>
              <a:t>No login, so anyone with the address can upload</a:t>
            </a:r>
            <a:endParaRPr lang="en-US" sz="1350" dirty="0"/>
          </a:p>
          <a:p>
            <a:pPr marL="228600" indent="-228600">
              <a:lnSpc>
                <a:spcPts val="3000"/>
              </a:lnSpc>
              <a:buSzPct val="100000"/>
              <a:buChar char="•"/>
            </a:pPr>
            <a:r>
              <a:rPr lang="en-US" sz="1350" dirty="0">
                <a:solidFill>
                  <a:srgbClr val="4D5551"/>
                </a:solidFill>
                <a:latin typeface="Calibri" pitchFamily="34" charset="0"/>
                <a:ea typeface="Calibri" pitchFamily="34" charset="-122"/>
                <a:cs typeface="Calibri" pitchFamily="34" charset="-120"/>
              </a:rPr>
              <a:t>One bucket holding one shared gallery</a:t>
            </a:r>
            <a:endParaRPr lang="en-US" sz="1350" dirty="0"/>
          </a:p>
          <a:p>
            <a:pPr marL="228600" indent="-228600">
              <a:lnSpc>
                <a:spcPts val="3000"/>
              </a:lnSpc>
              <a:buSzPct val="100000"/>
              <a:buChar char="•"/>
            </a:pPr>
            <a:r>
              <a:rPr lang="en-US" sz="1350" dirty="0">
                <a:solidFill>
                  <a:srgbClr val="4D5551"/>
                </a:solidFill>
                <a:latin typeface="Calibri" pitchFamily="34" charset="0"/>
                <a:ea typeface="Calibri" pitchFamily="34" charset="-122"/>
                <a:cs typeface="Calibri" pitchFamily="34" charset="-120"/>
              </a:rPr>
              <a:t>Thumbnails are full-size downloads</a:t>
            </a:r>
            <a:endParaRPr lang="en-US" sz="1350" dirty="0"/>
          </a:p>
          <a:p>
            <a:pPr marL="228600" indent="-228600">
              <a:lnSpc>
                <a:spcPts val="3000"/>
              </a:lnSpc>
              <a:buSzPct val="100000"/>
              <a:buChar char="•"/>
            </a:pPr>
            <a:r>
              <a:rPr lang="en-US" sz="1350" dirty="0">
                <a:solidFill>
                  <a:srgbClr val="4D5551"/>
                </a:solidFill>
                <a:latin typeface="Calibri" pitchFamily="34" charset="0"/>
                <a:ea typeface="Calibri" pitchFamily="34" charset="-122"/>
                <a:cs typeface="Calibri" pitchFamily="34" charset="-120"/>
              </a:rPr>
              <a:t>A single instance, so no failover</a:t>
            </a:r>
            <a:endParaRPr lang="en-US" sz="1350" dirty="0"/>
          </a:p>
        </p:txBody>
      </p:sp>
      <p:sp>
        <p:nvSpPr>
          <p:cNvPr id="9" name="Text 6"/>
          <p:cNvSpPr/>
          <p:nvPr/>
        </p:nvSpPr>
        <p:spPr>
          <a:xfrm>
            <a:off x="6263640" y="1874520"/>
            <a:ext cx="4572000" cy="365760"/>
          </a:xfrm>
          <a:prstGeom prst="rect">
            <a:avLst/>
          </a:prstGeom>
          <a:noFill/>
          <a:ln/>
        </p:spPr>
        <p:txBody>
          <a:bodyPr wrap="square" rtlCol="0" anchor="ctr"/>
          <a:lstStyle/>
          <a:p>
            <a:pPr indent="0" marL="0">
              <a:buNone/>
            </a:pPr>
            <a:r>
              <a:rPr lang="en-US" sz="1750" dirty="0">
                <a:solidFill>
                  <a:srgbClr val="1C1E1C"/>
                </a:solidFill>
                <a:latin typeface="Georgia" pitchFamily="34" charset="0"/>
                <a:ea typeface="Georgia" pitchFamily="34" charset="-122"/>
                <a:cs typeface="Georgia" pitchFamily="34" charset="-120"/>
              </a:rPr>
              <a:t>Where it goes next</a:t>
            </a:r>
            <a:endParaRPr lang="en-US" sz="1750" dirty="0"/>
          </a:p>
        </p:txBody>
      </p:sp>
      <p:sp>
        <p:nvSpPr>
          <p:cNvPr id="10" name="Text 7"/>
          <p:cNvSpPr/>
          <p:nvPr/>
        </p:nvSpPr>
        <p:spPr>
          <a:xfrm>
            <a:off x="6263640" y="2377440"/>
            <a:ext cx="5029200" cy="310896"/>
          </a:xfrm>
          <a:prstGeom prst="rect">
            <a:avLst/>
          </a:prstGeom>
          <a:noFill/>
          <a:ln/>
        </p:spPr>
        <p:txBody>
          <a:bodyPr wrap="square" rtlCol="0" anchor="ctr"/>
          <a:lstStyle/>
          <a:p>
            <a:pPr indent="0" marL="0">
              <a:buNone/>
            </a:pPr>
            <a:r>
              <a:rPr lang="en-US" sz="1500" dirty="0">
                <a:solidFill>
                  <a:srgbClr val="2F5D62"/>
                </a:solidFill>
                <a:latin typeface="Georgia" pitchFamily="34" charset="0"/>
                <a:ea typeface="Georgia" pitchFamily="34" charset="-122"/>
                <a:cs typeface="Georgia" pitchFamily="34" charset="-120"/>
              </a:rPr>
              <a:t>Cognito logins</a:t>
            </a:r>
            <a:endParaRPr lang="en-US" sz="1500" dirty="0"/>
          </a:p>
        </p:txBody>
      </p:sp>
      <p:sp>
        <p:nvSpPr>
          <p:cNvPr id="11" name="Text 8"/>
          <p:cNvSpPr/>
          <p:nvPr/>
        </p:nvSpPr>
        <p:spPr>
          <a:xfrm>
            <a:off x="6263640" y="2670048"/>
            <a:ext cx="5029200" cy="365760"/>
          </a:xfrm>
          <a:prstGeom prst="rect">
            <a:avLst/>
          </a:prstGeom>
          <a:noFill/>
          <a:ln/>
        </p:spPr>
        <p:txBody>
          <a:bodyPr wrap="square" rtlCol="0" anchor="ctr"/>
          <a:lstStyle/>
          <a:p>
            <a:pPr indent="0" marL="0">
              <a:buNone/>
            </a:pPr>
            <a:r>
              <a:rPr lang="en-US" sz="1250" dirty="0">
                <a:solidFill>
                  <a:srgbClr val="4D5551"/>
                </a:solidFill>
                <a:latin typeface="Calibri" pitchFamily="34" charset="0"/>
                <a:ea typeface="Calibri" pitchFamily="34" charset="-122"/>
                <a:cs typeface="Calibri" pitchFamily="34" charset="-120"/>
              </a:rPr>
              <a:t>A private prefix per user in the same bucket.</a:t>
            </a:r>
            <a:endParaRPr lang="en-US" sz="1250" dirty="0"/>
          </a:p>
        </p:txBody>
      </p:sp>
      <p:sp>
        <p:nvSpPr>
          <p:cNvPr id="12" name="Shape 9"/>
          <p:cNvSpPr/>
          <p:nvPr/>
        </p:nvSpPr>
        <p:spPr>
          <a:xfrm>
            <a:off x="6263640" y="3127248"/>
            <a:ext cx="5029200" cy="0"/>
          </a:xfrm>
          <a:prstGeom prst="line">
            <a:avLst/>
          </a:prstGeom>
          <a:noFill/>
          <a:ln w="9525">
            <a:solidFill>
              <a:srgbClr val="DFDAD0"/>
            </a:solidFill>
            <a:prstDash val="solid"/>
          </a:ln>
        </p:spPr>
      </p:sp>
      <p:sp>
        <p:nvSpPr>
          <p:cNvPr id="13" name="Text 10"/>
          <p:cNvSpPr/>
          <p:nvPr/>
        </p:nvSpPr>
        <p:spPr>
          <a:xfrm>
            <a:off x="6263640" y="3246120"/>
            <a:ext cx="5029200" cy="310896"/>
          </a:xfrm>
          <a:prstGeom prst="rect">
            <a:avLst/>
          </a:prstGeom>
          <a:noFill/>
          <a:ln/>
        </p:spPr>
        <p:txBody>
          <a:bodyPr wrap="square" rtlCol="0" anchor="ctr"/>
          <a:lstStyle/>
          <a:p>
            <a:pPr indent="0" marL="0">
              <a:buNone/>
            </a:pPr>
            <a:r>
              <a:rPr lang="en-US" sz="1500" dirty="0">
                <a:solidFill>
                  <a:srgbClr val="2F5D62"/>
                </a:solidFill>
                <a:latin typeface="Georgia" pitchFamily="34" charset="0"/>
                <a:ea typeface="Georgia" pitchFamily="34" charset="-122"/>
                <a:cs typeface="Georgia" pitchFamily="34" charset="-120"/>
              </a:rPr>
              <a:t>Lambda thumbnails</a:t>
            </a:r>
            <a:endParaRPr lang="en-US" sz="1500" dirty="0"/>
          </a:p>
        </p:txBody>
      </p:sp>
      <p:sp>
        <p:nvSpPr>
          <p:cNvPr id="14" name="Text 11"/>
          <p:cNvSpPr/>
          <p:nvPr/>
        </p:nvSpPr>
        <p:spPr>
          <a:xfrm>
            <a:off x="6263640" y="3538728"/>
            <a:ext cx="5029200" cy="365760"/>
          </a:xfrm>
          <a:prstGeom prst="rect">
            <a:avLst/>
          </a:prstGeom>
          <a:noFill/>
          <a:ln/>
        </p:spPr>
        <p:txBody>
          <a:bodyPr wrap="square" rtlCol="0" anchor="ctr"/>
          <a:lstStyle/>
          <a:p>
            <a:pPr indent="0" marL="0">
              <a:buNone/>
            </a:pPr>
            <a:r>
              <a:rPr lang="en-US" sz="1250" dirty="0">
                <a:solidFill>
                  <a:srgbClr val="4D5551"/>
                </a:solidFill>
                <a:latin typeface="Calibri" pitchFamily="34" charset="0"/>
                <a:ea typeface="Calibri" pitchFamily="34" charset="-122"/>
                <a:cs typeface="Calibri" pitchFamily="34" charset="-120"/>
              </a:rPr>
              <a:t>Resize on upload through an S3 event trigger.</a:t>
            </a:r>
            <a:endParaRPr lang="en-US" sz="1250" dirty="0"/>
          </a:p>
        </p:txBody>
      </p:sp>
      <p:sp>
        <p:nvSpPr>
          <p:cNvPr id="15" name="Shape 12"/>
          <p:cNvSpPr/>
          <p:nvPr/>
        </p:nvSpPr>
        <p:spPr>
          <a:xfrm>
            <a:off x="6263640" y="3995928"/>
            <a:ext cx="5029200" cy="0"/>
          </a:xfrm>
          <a:prstGeom prst="line">
            <a:avLst/>
          </a:prstGeom>
          <a:noFill/>
          <a:ln w="9525">
            <a:solidFill>
              <a:srgbClr val="DFDAD0"/>
            </a:solidFill>
            <a:prstDash val="solid"/>
          </a:ln>
        </p:spPr>
      </p:sp>
      <p:sp>
        <p:nvSpPr>
          <p:cNvPr id="16" name="Text 13"/>
          <p:cNvSpPr/>
          <p:nvPr/>
        </p:nvSpPr>
        <p:spPr>
          <a:xfrm>
            <a:off x="6263640" y="4114800"/>
            <a:ext cx="5029200" cy="310896"/>
          </a:xfrm>
          <a:prstGeom prst="rect">
            <a:avLst/>
          </a:prstGeom>
          <a:noFill/>
          <a:ln/>
        </p:spPr>
        <p:txBody>
          <a:bodyPr wrap="square" rtlCol="0" anchor="ctr"/>
          <a:lstStyle/>
          <a:p>
            <a:pPr indent="0" marL="0">
              <a:buNone/>
            </a:pPr>
            <a:r>
              <a:rPr lang="en-US" sz="1500" dirty="0">
                <a:solidFill>
                  <a:srgbClr val="2F5D62"/>
                </a:solidFill>
                <a:latin typeface="Georgia" pitchFamily="34" charset="0"/>
                <a:ea typeface="Georgia" pitchFamily="34" charset="-122"/>
                <a:cs typeface="Georgia" pitchFamily="34" charset="-120"/>
              </a:rPr>
              <a:t>CloudFront</a:t>
            </a:r>
            <a:endParaRPr lang="en-US" sz="1500" dirty="0"/>
          </a:p>
        </p:txBody>
      </p:sp>
      <p:sp>
        <p:nvSpPr>
          <p:cNvPr id="17" name="Text 14"/>
          <p:cNvSpPr/>
          <p:nvPr/>
        </p:nvSpPr>
        <p:spPr>
          <a:xfrm>
            <a:off x="6263640" y="4407408"/>
            <a:ext cx="5029200" cy="365760"/>
          </a:xfrm>
          <a:prstGeom prst="rect">
            <a:avLst/>
          </a:prstGeom>
          <a:noFill/>
          <a:ln/>
        </p:spPr>
        <p:txBody>
          <a:bodyPr wrap="square" rtlCol="0" anchor="ctr"/>
          <a:lstStyle/>
          <a:p>
            <a:pPr indent="0" marL="0">
              <a:buNone/>
            </a:pPr>
            <a:r>
              <a:rPr lang="en-US" sz="1250" dirty="0">
                <a:solidFill>
                  <a:srgbClr val="4D5551"/>
                </a:solidFill>
                <a:latin typeface="Calibri" pitchFamily="34" charset="0"/>
                <a:ea typeface="Calibri" pitchFamily="34" charset="-122"/>
                <a:cs typeface="Calibri" pitchFamily="34" charset="-120"/>
              </a:rPr>
              <a:t>Cache images at the edge instead of signing each view.</a:t>
            </a:r>
            <a:endParaRPr lang="en-US" sz="1250" dirty="0"/>
          </a:p>
        </p:txBody>
      </p:sp>
      <p:sp>
        <p:nvSpPr>
          <p:cNvPr id="18" name="Shape 15"/>
          <p:cNvSpPr/>
          <p:nvPr/>
        </p:nvSpPr>
        <p:spPr>
          <a:xfrm>
            <a:off x="6263640" y="4864608"/>
            <a:ext cx="5029200" cy="0"/>
          </a:xfrm>
          <a:prstGeom prst="line">
            <a:avLst/>
          </a:prstGeom>
          <a:noFill/>
          <a:ln w="9525">
            <a:solidFill>
              <a:srgbClr val="DFDAD0"/>
            </a:solidFill>
            <a:prstDash val="solid"/>
          </a:ln>
        </p:spPr>
      </p:sp>
      <p:sp>
        <p:nvSpPr>
          <p:cNvPr id="19" name="Text 16"/>
          <p:cNvSpPr/>
          <p:nvPr/>
        </p:nvSpPr>
        <p:spPr>
          <a:xfrm>
            <a:off x="6263640" y="4983480"/>
            <a:ext cx="5029200" cy="310896"/>
          </a:xfrm>
          <a:prstGeom prst="rect">
            <a:avLst/>
          </a:prstGeom>
          <a:noFill/>
          <a:ln/>
        </p:spPr>
        <p:txBody>
          <a:bodyPr wrap="square" rtlCol="0" anchor="ctr"/>
          <a:lstStyle/>
          <a:p>
            <a:pPr indent="0" marL="0">
              <a:buNone/>
            </a:pPr>
            <a:r>
              <a:rPr lang="en-US" sz="1500" dirty="0">
                <a:solidFill>
                  <a:srgbClr val="2F5D62"/>
                </a:solidFill>
                <a:latin typeface="Georgia" pitchFamily="34" charset="0"/>
                <a:ea typeface="Georgia" pitchFamily="34" charset="-122"/>
                <a:cs typeface="Georgia" pitchFamily="34" charset="-120"/>
              </a:rPr>
              <a:t>DynamoDB metadata</a:t>
            </a:r>
            <a:endParaRPr lang="en-US" sz="1500" dirty="0"/>
          </a:p>
        </p:txBody>
      </p:sp>
      <p:sp>
        <p:nvSpPr>
          <p:cNvPr id="20" name="Text 17"/>
          <p:cNvSpPr/>
          <p:nvPr/>
        </p:nvSpPr>
        <p:spPr>
          <a:xfrm>
            <a:off x="6263640" y="5276088"/>
            <a:ext cx="5029200" cy="365760"/>
          </a:xfrm>
          <a:prstGeom prst="rect">
            <a:avLst/>
          </a:prstGeom>
          <a:noFill/>
          <a:ln/>
        </p:spPr>
        <p:txBody>
          <a:bodyPr wrap="square" rtlCol="0" anchor="ctr"/>
          <a:lstStyle/>
          <a:p>
            <a:pPr indent="0" marL="0">
              <a:buNone/>
            </a:pPr>
            <a:r>
              <a:rPr lang="en-US" sz="1250" dirty="0">
                <a:solidFill>
                  <a:srgbClr val="4D5551"/>
                </a:solidFill>
                <a:latin typeface="Calibri" pitchFamily="34" charset="0"/>
                <a:ea typeface="Calibri" pitchFamily="34" charset="-122"/>
                <a:cs typeface="Calibri" pitchFamily="34" charset="-120"/>
              </a:rPr>
              <a:t>Titles, tags and captions beside the objects.</a:t>
            </a:r>
            <a:endParaRPr lang="en-US" sz="1250" dirty="0"/>
          </a:p>
        </p:txBody>
      </p:sp>
      <p:sp>
        <p:nvSpPr>
          <p:cNvPr id="21" name="Text 18"/>
          <p:cNvSpPr/>
          <p:nvPr/>
        </p:nvSpPr>
        <p:spPr>
          <a:xfrm>
            <a:off x="868680" y="5669280"/>
            <a:ext cx="10454335" cy="365760"/>
          </a:xfrm>
          <a:prstGeom prst="rect">
            <a:avLst/>
          </a:prstGeom>
          <a:noFill/>
          <a:ln/>
        </p:spPr>
        <p:txBody>
          <a:bodyPr wrap="square" rtlCol="0" anchor="ctr"/>
          <a:lstStyle/>
          <a:p>
            <a:pPr indent="0" marL="0">
              <a:buNone/>
            </a:pPr>
            <a:r>
              <a:rPr lang="en-US" sz="1450" i="1" dirty="0">
                <a:solidFill>
                  <a:srgbClr val="2F5D62"/>
                </a:solidFill>
                <a:latin typeface="Georgia" pitchFamily="34" charset="0"/>
                <a:ea typeface="Georgia" pitchFamily="34" charset="-122"/>
                <a:cs typeface="Georgia" pitchFamily="34" charset="-120"/>
              </a:rPr>
              <a:t>Every extension plugs into the same two-service core, which is why the simple version was worth building first.</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3" name="Shape 0"/>
          <p:cNvSpPr/>
          <p:nvPr/>
        </p:nvSpPr>
        <p:spPr>
          <a:xfrm>
            <a:off x="0" y="6766560"/>
            <a:ext cx="12191695" cy="91440"/>
          </a:xfrm>
          <a:prstGeom prst="rect">
            <a:avLst/>
          </a:prstGeom>
          <a:solidFill>
            <a:srgbClr val="2F5D62"/>
          </a:solidFill>
          <a:ln/>
        </p:spPr>
      </p:sp>
      <p:sp>
        <p:nvSpPr>
          <p:cNvPr id="4" name="Shape 1"/>
          <p:cNvSpPr/>
          <p:nvPr/>
        </p:nvSpPr>
        <p:spPr>
          <a:xfrm>
            <a:off x="7772400" y="1828800"/>
            <a:ext cx="3566160" cy="3291840"/>
          </a:xfrm>
          <a:prstGeom prst="roundRect">
            <a:avLst>
              <a:gd name="adj" fmla="val 1389"/>
            </a:avLst>
          </a:prstGeom>
          <a:solidFill>
            <a:srgbClr val="E7EDE6"/>
          </a:solidFill>
          <a:ln w="12700">
            <a:solidFill>
              <a:srgbClr val="E7EDE6"/>
            </a:solidFill>
            <a:prstDash val="solid"/>
          </a:ln>
        </p:spPr>
      </p:sp>
      <p:sp>
        <p:nvSpPr>
          <p:cNvPr id="5" name="Text 2"/>
          <p:cNvSpPr/>
          <p:nvPr/>
        </p:nvSpPr>
        <p:spPr>
          <a:xfrm>
            <a:off x="8092440" y="2331720"/>
            <a:ext cx="3017520" cy="1371600"/>
          </a:xfrm>
          <a:prstGeom prst="rect">
            <a:avLst/>
          </a:prstGeom>
          <a:noFill/>
          <a:ln/>
        </p:spPr>
        <p:txBody>
          <a:bodyPr wrap="square" rtlCol="0" anchor="ctr"/>
          <a:lstStyle/>
          <a:p>
            <a:pPr indent="0" marL="0">
              <a:lnSpc>
                <a:spcPts val="3000"/>
              </a:lnSpc>
              <a:buNone/>
            </a:pPr>
            <a:r>
              <a:rPr lang="en-US" sz="2100" dirty="0">
                <a:solidFill>
                  <a:srgbClr val="2F5D62"/>
                </a:solidFill>
                <a:latin typeface="Georgia" pitchFamily="34" charset="0"/>
                <a:ea typeface="Georgia" pitchFamily="34" charset="-122"/>
                <a:cs typeface="Georgia" pitchFamily="34" charset="-120"/>
              </a:rPr>
              <a:t>The one idea</a:t>
            </a:r>
            <a:endParaRPr lang="en-US" sz="2100" dirty="0"/>
          </a:p>
          <a:p>
            <a:pPr indent="0" marL="0">
              <a:lnSpc>
                <a:spcPts val="3000"/>
              </a:lnSpc>
              <a:buNone/>
            </a:pPr>
            <a:r>
              <a:rPr lang="en-US" sz="2100" dirty="0">
                <a:solidFill>
                  <a:srgbClr val="2F5D62"/>
                </a:solidFill>
                <a:latin typeface="Georgia" pitchFamily="34" charset="0"/>
                <a:ea typeface="Georgia" pitchFamily="34" charset="-122"/>
                <a:cs typeface="Georgia" pitchFamily="34" charset="-120"/>
              </a:rPr>
              <a:t>to remember</a:t>
            </a:r>
            <a:endParaRPr lang="en-US" sz="2100" dirty="0"/>
          </a:p>
        </p:txBody>
      </p:sp>
      <p:sp>
        <p:nvSpPr>
          <p:cNvPr id="6" name="Text 3"/>
          <p:cNvSpPr/>
          <p:nvPr/>
        </p:nvSpPr>
        <p:spPr>
          <a:xfrm>
            <a:off x="868680" y="1828800"/>
            <a:ext cx="5486400" cy="274320"/>
          </a:xfrm>
          <a:prstGeom prst="rect">
            <a:avLst/>
          </a:prstGeom>
          <a:noFill/>
          <a:ln/>
        </p:spPr>
        <p:txBody>
          <a:bodyPr wrap="square" rtlCol="0" anchor="ctr"/>
          <a:lstStyle/>
          <a:p>
            <a:pPr indent="0" marL="0">
              <a:buNone/>
            </a:pPr>
            <a:r>
              <a:rPr lang="en-US" sz="1050" b="1" spc="240" kern="0" dirty="0">
                <a:solidFill>
                  <a:srgbClr val="2F5D62"/>
                </a:solidFill>
                <a:latin typeface="Calibri" pitchFamily="34" charset="0"/>
                <a:ea typeface="Calibri" pitchFamily="34" charset="-122"/>
                <a:cs typeface="Calibri" pitchFamily="34" charset="-120"/>
              </a:rPr>
              <a:t>CONCLUSION</a:t>
            </a:r>
            <a:endParaRPr lang="en-US" sz="1050" dirty="0"/>
          </a:p>
        </p:txBody>
      </p:sp>
      <p:sp>
        <p:nvSpPr>
          <p:cNvPr id="7" name="Text 4"/>
          <p:cNvSpPr/>
          <p:nvPr/>
        </p:nvSpPr>
        <p:spPr>
          <a:xfrm>
            <a:off x="868680" y="2194560"/>
            <a:ext cx="6583680" cy="1280160"/>
          </a:xfrm>
          <a:prstGeom prst="rect">
            <a:avLst/>
          </a:prstGeom>
          <a:noFill/>
          <a:ln/>
        </p:spPr>
        <p:txBody>
          <a:bodyPr wrap="square" rtlCol="0" anchor="ctr"/>
          <a:lstStyle/>
          <a:p>
            <a:pPr indent="0" marL="0">
              <a:lnSpc>
                <a:spcPts val="4200"/>
              </a:lnSpc>
              <a:buNone/>
            </a:pPr>
            <a:r>
              <a:rPr lang="en-US" sz="3200" dirty="0">
                <a:solidFill>
                  <a:srgbClr val="1C1E1C"/>
                </a:solidFill>
                <a:latin typeface="Georgia" pitchFamily="34" charset="0"/>
                <a:ea typeface="Georgia" pitchFamily="34" charset="-122"/>
                <a:cs typeface="Georgia" pitchFamily="34" charset="-120"/>
              </a:rPr>
              <a:t>Separate the compute</a:t>
            </a:r>
            <a:endParaRPr lang="en-US" sz="3200" dirty="0"/>
          </a:p>
          <a:p>
            <a:pPr indent="0" marL="0">
              <a:lnSpc>
                <a:spcPts val="4200"/>
              </a:lnSpc>
              <a:buNone/>
            </a:pPr>
            <a:r>
              <a:rPr lang="en-US" sz="3200" dirty="0">
                <a:solidFill>
                  <a:srgbClr val="1C1E1C"/>
                </a:solidFill>
                <a:latin typeface="Georgia" pitchFamily="34" charset="0"/>
                <a:ea typeface="Georgia" pitchFamily="34" charset="-122"/>
                <a:cs typeface="Georgia" pitchFamily="34" charset="-120"/>
              </a:rPr>
              <a:t>from the storage.</a:t>
            </a:r>
            <a:endParaRPr lang="en-US" sz="3200" dirty="0"/>
          </a:p>
        </p:txBody>
      </p:sp>
      <p:sp>
        <p:nvSpPr>
          <p:cNvPr id="8" name="Shape 5"/>
          <p:cNvSpPr/>
          <p:nvPr/>
        </p:nvSpPr>
        <p:spPr>
          <a:xfrm>
            <a:off x="868680" y="3703320"/>
            <a:ext cx="5852160" cy="0"/>
          </a:xfrm>
          <a:prstGeom prst="line">
            <a:avLst/>
          </a:prstGeom>
          <a:noFill/>
          <a:ln w="9525">
            <a:solidFill>
              <a:srgbClr val="DFDAD0"/>
            </a:solidFill>
            <a:prstDash val="solid"/>
          </a:ln>
        </p:spPr>
      </p:sp>
      <p:sp>
        <p:nvSpPr>
          <p:cNvPr id="9" name="Text 6"/>
          <p:cNvSpPr/>
          <p:nvPr/>
        </p:nvSpPr>
        <p:spPr>
          <a:xfrm>
            <a:off x="868680" y="3886200"/>
            <a:ext cx="6126480" cy="1371600"/>
          </a:xfrm>
          <a:prstGeom prst="rect">
            <a:avLst/>
          </a:prstGeom>
          <a:noFill/>
          <a:ln/>
        </p:spPr>
        <p:txBody>
          <a:bodyPr wrap="square" rtlCol="0" anchor="t"/>
          <a:lstStyle/>
          <a:p>
            <a:pPr indent="0" marL="0">
              <a:lnSpc>
                <a:spcPts val="2300"/>
              </a:lnSpc>
              <a:buNone/>
            </a:pPr>
            <a:r>
              <a:rPr lang="en-US" sz="1400" dirty="0">
                <a:solidFill>
                  <a:srgbClr val="4D5551"/>
                </a:solidFill>
                <a:latin typeface="Calibri" pitchFamily="34" charset="0"/>
                <a:ea typeface="Calibri" pitchFamily="34" charset="-122"/>
                <a:cs typeface="Calibri" pitchFamily="34" charset="-120"/>
              </a:rPr>
              <a:t>EC2 runs the code and can be thrown away at any moment. S3 keeps the images durable and independent of whichever server happens to be running. That single split is what makes the application scalable, and it is the whole lesson of this project.</a:t>
            </a:r>
            <a:endParaRPr lang="en-US" sz="1400" dirty="0"/>
          </a:p>
        </p:txBody>
      </p:sp>
      <p:sp>
        <p:nvSpPr>
          <p:cNvPr id="10" name="Text 7"/>
          <p:cNvSpPr/>
          <p:nvPr/>
        </p:nvSpPr>
        <p:spPr>
          <a:xfrm>
            <a:off x="868680" y="5486400"/>
            <a:ext cx="6400800" cy="457200"/>
          </a:xfrm>
          <a:prstGeom prst="rect">
            <a:avLst/>
          </a:prstGeom>
          <a:noFill/>
          <a:ln/>
        </p:spPr>
        <p:txBody>
          <a:bodyPr wrap="square" rtlCol="0" anchor="ctr"/>
          <a:lstStyle/>
          <a:p>
            <a:pPr indent="0" marL="0">
              <a:buNone/>
            </a:pPr>
            <a:r>
              <a:rPr lang="en-US" sz="1900" dirty="0">
                <a:solidFill>
                  <a:srgbClr val="1C1E1C"/>
                </a:solidFill>
                <a:latin typeface="Georgia" pitchFamily="34" charset="0"/>
                <a:ea typeface="Georgia" pitchFamily="34" charset="-122"/>
                <a:cs typeface="Georgia" pitchFamily="34" charset="-120"/>
              </a:rPr>
              <a:t>Thank you.  Questions welcome.</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Cloud-Based Image Storage and Gallery System</dc:title>
  <dc:subject>PptxGenJS Presentation</dc:subject>
  <dc:creator>Student Project</dc:creator>
  <cp:lastModifiedBy>Student Project</cp:lastModifiedBy>
  <cp:revision>1</cp:revision>
  <dcterms:created xsi:type="dcterms:W3CDTF">2026-10-10T15:00:34Z</dcterms:created>
  <dcterms:modified xsi:type="dcterms:W3CDTF">2026-10-10T15:00:34Z</dcterms:modified>
</cp:coreProperties>
</file>